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Caveat"/>
      <p:regular r:id="rId15"/>
      <p:bold r:id="rId16"/>
    </p:embeddedFont>
    <p:embeddedFont>
      <p:font typeface="Roboto Mono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824AXjuWQwGhWcYP8bw37N5pS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5" Type="http://schemas.openxmlformats.org/officeDocument/2006/relationships/font" Target="fonts/Caveat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RobotoMono-regular.fntdata"/><Relationship Id="rId16" Type="http://schemas.openxmlformats.org/officeDocument/2006/relationships/font" Target="fonts/Caveat-bold.fntdata"/><Relationship Id="rId19" Type="http://schemas.openxmlformats.org/officeDocument/2006/relationships/font" Target="fonts/RobotoMono-italic.fntdata"/><Relationship Id="rId18" Type="http://schemas.openxmlformats.org/officeDocument/2006/relationships/font" Target="fonts/RobotoMon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3fa76e5bd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g313fa76e5bd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b8fa4ff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b8fa4ff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b8fa4ff8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b8fa4ff8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13fa76e5bd_0_72"/>
          <p:cNvSpPr txBox="1"/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g313fa76e5bd_0_72"/>
          <p:cNvSpPr txBox="1"/>
          <p:nvPr>
            <p:ph idx="1" type="body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13fa76e5bd_0_7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13fa76e5bd_0_7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13fa76e5bd_0_72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jp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docs.google.com/spreadsheets/u/0/d/19U8UoWqUd3p9m3qFz-cHFjUzH2-uKm5wMLPZJTfANWQ/ed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B0A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/>
          <p:nvPr/>
        </p:nvSpPr>
        <p:spPr>
          <a:xfrm>
            <a:off x="2464027" y="1138664"/>
            <a:ext cx="4050536" cy="3979652"/>
          </a:xfrm>
          <a:custGeom>
            <a:rect b="b" l="l" r="r" t="t"/>
            <a:pathLst>
              <a:path extrusionOk="0" h="7959303" w="8101072">
                <a:moveTo>
                  <a:pt x="0" y="0"/>
                </a:moveTo>
                <a:lnTo>
                  <a:pt x="8101072" y="0"/>
                </a:lnTo>
                <a:lnTo>
                  <a:pt x="8101072" y="7959303"/>
                </a:lnTo>
                <a:lnTo>
                  <a:pt x="0" y="7959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1"/>
          <p:cNvSpPr/>
          <p:nvPr/>
        </p:nvSpPr>
        <p:spPr>
          <a:xfrm>
            <a:off x="-1486429" y="-2463857"/>
            <a:ext cx="6794500" cy="6794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3851993" y="167243"/>
            <a:ext cx="922357" cy="404684"/>
          </a:xfrm>
          <a:custGeom>
            <a:rect b="b" l="l" r="r" t="t"/>
            <a:pathLst>
              <a:path extrusionOk="0" h="809368" w="1844714">
                <a:moveTo>
                  <a:pt x="0" y="0"/>
                </a:moveTo>
                <a:lnTo>
                  <a:pt x="1844714" y="0"/>
                </a:lnTo>
                <a:lnTo>
                  <a:pt x="1844714" y="809368"/>
                </a:lnTo>
                <a:lnTo>
                  <a:pt x="0" y="80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4" name="Google Shape;64;p1"/>
          <p:cNvCxnSpPr/>
          <p:nvPr/>
        </p:nvCxnSpPr>
        <p:spPr>
          <a:xfrm>
            <a:off x="4937899" y="230112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"/>
          <p:cNvSpPr txBox="1"/>
          <p:nvPr/>
        </p:nvSpPr>
        <p:spPr>
          <a:xfrm>
            <a:off x="5099824" y="205086"/>
            <a:ext cx="221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5">
            <a:alphaModFix/>
          </a:blip>
          <a:srcRect b="0" l="56640" r="0" t="0"/>
          <a:stretch/>
        </p:blipFill>
        <p:spPr>
          <a:xfrm>
            <a:off x="0" y="-169046"/>
            <a:ext cx="3560601" cy="548159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/>
          <p:nvPr/>
        </p:nvSpPr>
        <p:spPr>
          <a:xfrm>
            <a:off x="3560603" y="1449959"/>
            <a:ext cx="7654829" cy="2243582"/>
          </a:xfrm>
          <a:custGeom>
            <a:rect b="b" l="l" r="r" t="t"/>
            <a:pathLst>
              <a:path extrusionOk="0" h="4487164" w="15309658">
                <a:moveTo>
                  <a:pt x="0" y="0"/>
                </a:moveTo>
                <a:lnTo>
                  <a:pt x="15309658" y="0"/>
                </a:lnTo>
                <a:lnTo>
                  <a:pt x="15309658" y="4487164"/>
                </a:lnTo>
                <a:lnTo>
                  <a:pt x="0" y="4487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-22114" r="0" t="0"/>
            </a:stretch>
          </a:blipFill>
          <a:ln>
            <a:noFill/>
          </a:ln>
        </p:spPr>
      </p:sp>
      <p:sp>
        <p:nvSpPr>
          <p:cNvPr id="68" name="Google Shape;68;p1"/>
          <p:cNvSpPr txBox="1"/>
          <p:nvPr/>
        </p:nvSpPr>
        <p:spPr>
          <a:xfrm>
            <a:off x="3792125" y="1991150"/>
            <a:ext cx="511590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id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Basic PYTHON</a:t>
            </a:r>
            <a:endParaRPr b="1" i="0" sz="5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Portofolio - Intensive Bootcamp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lang="id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Muhammad Ferdy Fawwaz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" sz="140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g313fa76e5bd_0_0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77" name="Google Shape;77;g313fa76e5bd_0_0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13fa76e5bd_0_0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313fa76e5bd_0_0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g313fa76e5bd_0_0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81" name="Google Shape;81;g313fa76e5bd_0_0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13fa76e5bd_0_0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313fa76e5bd_0_0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13fa76e5bd_0_0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313fa76e5bd_0_0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313fa76e5bd_0_0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313fa76e5bd_0_0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313fa76e5bd_0_0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313fa76e5bd_0_0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g313fa76e5bd_0_0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91" name="Google Shape;91;g313fa76e5b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13fa76e5bd_0_0"/>
          <p:cNvSpPr txBox="1"/>
          <p:nvPr/>
        </p:nvSpPr>
        <p:spPr>
          <a:xfrm>
            <a:off x="278025" y="454325"/>
            <a:ext cx="8462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d" sz="2800" u="none" cap="none" strike="noStrike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Petunjuk Pengerjaan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g313fa76e5bd_0_0"/>
          <p:cNvSpPr txBox="1"/>
          <p:nvPr/>
        </p:nvSpPr>
        <p:spPr>
          <a:xfrm>
            <a:off x="212775" y="1001700"/>
            <a:ext cx="8462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Dokumen ini memang tidak open access untuk edit, maka silahkan copy file ini lalu kerjakanlah pada device masing-masing, dengan cara klik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File</a:t>
            </a: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pada pojok kiri atas, pilih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Make a Copy</a:t>
            </a: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Setelah file berhasil di copy, ubah nama sesuai nama masing-masing.</a:t>
            </a:r>
            <a:b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Untuk mengerjakan, perhatikan petunjuk dibawah ini:</a:t>
            </a:r>
            <a:endParaRPr b="1" i="0" sz="1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Jawablah masing-masing pertanyaan di slide selanjutnya berdasarkan pengetahuanmu dan berdasarkan apa yang kamu pahami pada materi tiap sesi.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pengaturan akses file sebagai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Publik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namun cukup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View Only 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agar tugas dapat dicek oleh Class Assistant.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Silahkan kirim link sheet mini task berikut di form pengumpulan mini task yang sudah tersedia di </a:t>
            </a:r>
            <a:r>
              <a:rPr b="1" i="0" lang="id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To Do List bootcamp Data Analysis batch 21.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Upload pekerjaanmu di LinkedIn dan tag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@MySkill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juga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Class Assistant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mendampingi serta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Tutor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mengajar di sesi kelas. Yang di upload boleh berupa file PPT, maupun screenshot dari file ini.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"/>
          <p:cNvGrpSpPr/>
          <p:nvPr/>
        </p:nvGrpSpPr>
        <p:grpSpPr>
          <a:xfrm>
            <a:off x="3854590" y="4740700"/>
            <a:ext cx="1434817" cy="389011"/>
            <a:chOff x="3248325" y="4588800"/>
            <a:chExt cx="2045939" cy="554700"/>
          </a:xfrm>
        </p:grpSpPr>
        <p:sp>
          <p:nvSpPr>
            <p:cNvPr id="99" name="Google Shape;99;p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25085" y="65157"/>
            <a:ext cx="763768" cy="752531"/>
            <a:chOff x="695950" y="3458000"/>
            <a:chExt cx="966550" cy="952450"/>
          </a:xfrm>
        </p:grpSpPr>
        <p:sp>
          <p:nvSpPr>
            <p:cNvPr id="103" name="Google Shape;103;p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2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>
            <p:ph type="ctr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82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BASIC PYTHON</a:t>
            </a:r>
            <a:endParaRPr b="1" sz="182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311700" y="1180456"/>
            <a:ext cx="8892000" cy="1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b="0" i="0" lang="id" sz="1600" u="none" cap="none" strike="noStrike">
                <a:solidFill>
                  <a:schemeClr val="accent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Buatlah Biodata diri selengkap mungkin dengan menggunakan Dictionary. </a:t>
            </a:r>
            <a:endParaRPr b="0" i="0" sz="1600" u="none" cap="none" strike="noStrike">
              <a:solidFill>
                <a:schemeClr val="accent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b="0" i="0" lang="id" sz="1600" u="none" cap="none" strike="noStrike">
                <a:solidFill>
                  <a:schemeClr val="accent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Kemudian coba dengan menggunakan key, tampilkan nama panggilan Anda!</a:t>
            </a:r>
            <a:endParaRPr b="0" i="0" sz="1600" u="none" cap="none" strike="noStrike">
              <a:solidFill>
                <a:schemeClr val="accent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Roboto"/>
              <a:buAutoNum type="arabicPeriod"/>
            </a:pPr>
            <a:r>
              <a:rPr b="0" i="0" lang="id" sz="1600" u="none" cap="none" strike="noStrike">
                <a:solidFill>
                  <a:schemeClr val="accent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Tampilkan hasilnya beserta setiap langkahnya</a:t>
            </a:r>
            <a:endParaRPr b="0" i="0" sz="1600" u="none" cap="none" strike="noStrike">
              <a:solidFill>
                <a:schemeClr val="accent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b8fa4ff87_0_0"/>
          <p:cNvSpPr txBox="1"/>
          <p:nvPr/>
        </p:nvSpPr>
        <p:spPr>
          <a:xfrm>
            <a:off x="311700" y="13856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700">
                <a:solidFill>
                  <a:srgbClr val="18919B"/>
                </a:solidFill>
              </a:rPr>
              <a:t>Pengenalan Python Dasar (Interactive Dictionary) </a:t>
            </a:r>
            <a:endParaRPr b="1" sz="182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g38b8fa4ff87_0_0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23" name="Google Shape;123;g38b8fa4ff8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8b8fa4ff87_0_0"/>
          <p:cNvSpPr txBox="1"/>
          <p:nvPr/>
        </p:nvSpPr>
        <p:spPr>
          <a:xfrm>
            <a:off x="292150" y="50630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solidFill>
                  <a:srgbClr val="18919B"/>
                </a:solidFill>
              </a:rPr>
              <a:t>Interactive Input &amp; Advanced Key Extraction </a:t>
            </a:r>
            <a:endParaRPr b="1">
              <a:solidFill>
                <a:srgbClr val="18919B"/>
              </a:solidFill>
            </a:endParaRPr>
          </a:p>
        </p:txBody>
      </p:sp>
      <p:sp>
        <p:nvSpPr>
          <p:cNvPr id="125" name="Google Shape;125;g38b8fa4ff87_0_0"/>
          <p:cNvSpPr txBox="1"/>
          <p:nvPr/>
        </p:nvSpPr>
        <p:spPr>
          <a:xfrm>
            <a:off x="212775" y="886208"/>
            <a:ext cx="89313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chemeClr val="dk1"/>
                </a:solidFill>
              </a:rPr>
              <a:t>Untuk menunjukkan pemahaman fundamental Python yang lebih komprehensif, program biodata ini dirancang secara interaktif menggunakan fungsi </a:t>
            </a:r>
            <a:r>
              <a:rPr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input()</a:t>
            </a:r>
            <a:r>
              <a:rPr lang="id" sz="1100">
                <a:solidFill>
                  <a:schemeClr val="dk1"/>
                </a:solidFill>
              </a:rPr>
              <a:t> agar data bersifat dinamis. Tampilan output </a:t>
            </a:r>
            <a:r>
              <a:rPr i="1" lang="id" sz="1100">
                <a:solidFill>
                  <a:schemeClr val="dk1"/>
                </a:solidFill>
              </a:rPr>
              <a:t>dictionary</a:t>
            </a:r>
            <a:r>
              <a:rPr lang="id" sz="1100">
                <a:solidFill>
                  <a:schemeClr val="dk1"/>
                </a:solidFill>
              </a:rPr>
              <a:t> mentah juga dirapikan secara vertikal menggunakan perulangan </a:t>
            </a:r>
            <a:r>
              <a:rPr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id" sz="1100">
                <a:solidFill>
                  <a:schemeClr val="dk1"/>
                </a:solidFill>
              </a:rPr>
              <a:t> dan metode </a:t>
            </a:r>
            <a:r>
              <a:rPr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.items()</a:t>
            </a:r>
            <a:r>
              <a:rPr lang="id" sz="1100">
                <a:solidFill>
                  <a:schemeClr val="dk1"/>
                </a:solidFill>
              </a:rPr>
              <a:t>. Pada tahap ekstraksi data, program menghindari pemanggilan kurung siku konvensional dan beralih menggunakan metode </a:t>
            </a:r>
            <a:r>
              <a:rPr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.get()</a:t>
            </a:r>
            <a:r>
              <a:rPr lang="id" sz="1100">
                <a:solidFill>
                  <a:schemeClr val="dk1"/>
                </a:solidFill>
              </a:rPr>
              <a:t> yang lebih aman dari </a:t>
            </a:r>
            <a:r>
              <a:rPr i="1" lang="id" sz="1100">
                <a:solidFill>
                  <a:schemeClr val="dk1"/>
                </a:solidFill>
              </a:rPr>
              <a:t>error</a:t>
            </a:r>
            <a:r>
              <a:rPr lang="id" sz="1100">
                <a:solidFill>
                  <a:schemeClr val="dk1"/>
                </a:solidFill>
              </a:rPr>
              <a:t>, serta memanfaatkan teknik </a:t>
            </a:r>
            <a:r>
              <a:rPr i="1" lang="id" sz="1100">
                <a:solidFill>
                  <a:schemeClr val="dk1"/>
                </a:solidFill>
              </a:rPr>
              <a:t>Dictionary Unpacking</a:t>
            </a:r>
            <a:r>
              <a:rPr lang="id" sz="1100">
                <a:solidFill>
                  <a:schemeClr val="dk1"/>
                </a:solidFill>
              </a:rPr>
              <a:t> (</a:t>
            </a:r>
            <a:r>
              <a:rPr lang="id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**</a:t>
            </a:r>
            <a:r>
              <a:rPr lang="id" sz="1100">
                <a:solidFill>
                  <a:schemeClr val="dk1"/>
                </a:solidFill>
              </a:rPr>
              <a:t>) untuk merangkai beberapa </a:t>
            </a:r>
            <a:r>
              <a:rPr i="1" lang="id" sz="1100">
                <a:solidFill>
                  <a:schemeClr val="dk1"/>
                </a:solidFill>
              </a:rPr>
              <a:t>value</a:t>
            </a:r>
            <a:r>
              <a:rPr lang="id" sz="1100">
                <a:solidFill>
                  <a:schemeClr val="dk1"/>
                </a:solidFill>
              </a:rPr>
              <a:t> sekaligus ke dalam sebuah kalimat secara otomatis dan elegan. </a:t>
            </a:r>
            <a:endParaRPr/>
          </a:p>
        </p:txBody>
      </p:sp>
      <p:pic>
        <p:nvPicPr>
          <p:cNvPr id="126" name="Google Shape;126;g38b8fa4ff87_0_0"/>
          <p:cNvPicPr preferRelativeResize="0"/>
          <p:nvPr/>
        </p:nvPicPr>
        <p:blipFill rotWithShape="1">
          <a:blip r:embed="rId4">
            <a:alphaModFix/>
          </a:blip>
          <a:srcRect b="31006" l="0" r="0" t="0"/>
          <a:stretch/>
        </p:blipFill>
        <p:spPr>
          <a:xfrm>
            <a:off x="1879438" y="1917600"/>
            <a:ext cx="5385126" cy="3022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b8fa4ff87_0_65"/>
          <p:cNvSpPr txBox="1"/>
          <p:nvPr/>
        </p:nvSpPr>
        <p:spPr>
          <a:xfrm>
            <a:off x="2125663" y="531350"/>
            <a:ext cx="489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>
                <a:solidFill>
                  <a:srgbClr val="18919B"/>
                </a:solidFill>
              </a:rPr>
              <a:t>Hasil Output I</a:t>
            </a:r>
            <a:r>
              <a:rPr b="1" lang="id">
                <a:solidFill>
                  <a:srgbClr val="18919B"/>
                </a:solidFill>
              </a:rPr>
              <a:t>nteractive Input &amp; Advanced Key Extraction </a:t>
            </a:r>
            <a:endParaRPr b="1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g38b8fa4ff87_0_65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33" name="Google Shape;133;g38b8fa4ff87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8b8fa4ff87_0_65"/>
          <p:cNvPicPr preferRelativeResize="0"/>
          <p:nvPr/>
        </p:nvPicPr>
        <p:blipFill rotWithShape="1">
          <a:blip r:embed="rId4">
            <a:alphaModFix/>
          </a:blip>
          <a:srcRect b="-757" l="0" r="0" t="68254"/>
          <a:stretch/>
        </p:blipFill>
        <p:spPr>
          <a:xfrm>
            <a:off x="471263" y="1446900"/>
            <a:ext cx="8201476" cy="216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