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Caveat"/>
      <p:regular r:id="rId19"/>
      <p:bold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wFeT7Dt7LD8hXR9msD6f2mkrv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veat-bold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Caveat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573b007e0_42_7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2d573b007e0_42_7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d10c578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d10c578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d10c5789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d10c578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OBJECT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3203096" y="685418"/>
            <a:ext cx="2737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OBJECT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3203096" y="685418"/>
            <a:ext cx="2737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573b007e0_42_101"/>
          <p:cNvSpPr txBox="1"/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g2d573b007e0_42_101"/>
          <p:cNvSpPr txBox="1"/>
          <p:nvPr>
            <p:ph idx="1" type="body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2d573b007e0_42_10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2d573b007e0_42_10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2d573b007e0_42_10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573b007e0_42_9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g2d573b007e0_42_9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g2d573b007e0_42_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573b007e0_42_10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g2d573b007e0_42_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573b007e0_42_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2d573b007e0_42_1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2d573b007e0_42_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573b007e0_42_1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g2d573b007e0_42_1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g2d573b007e0_42_1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g2d573b007e0_42_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573b007e0_42_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g2d573b007e0_42_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573b007e0_42_1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g2d573b007e0_42_1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g2d573b007e0_42_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573b007e0_42_1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2" name="Google Shape;102;g2d573b007e0_42_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573b007e0_42_1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2d573b007e0_42_1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g2d573b007e0_42_1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7" name="Google Shape;107;g2d573b007e0_42_1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g2d573b007e0_42_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573b007e0_42_1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1" name="Google Shape;111;g2d573b007e0_42_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573b007e0_42_1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4" name="Google Shape;114;g2d573b007e0_42_1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g2d573b007e0_42_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573b007e0_42_1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573b007e0_42_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2d573b007e0_42_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g2d573b007e0_42_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jp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spreadsheets/d/19U8UoWqUd3p9m3qFz-cHFjUzH2-uKm5wMLPZJTfANWQ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5" name="Google Shape;125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3" r="0" t="0"/>
            </a:stretch>
          </a:blipFill>
          <a:ln>
            <a:noFill/>
          </a:ln>
        </p:spPr>
      </p:sp>
      <p:sp>
        <p:nvSpPr>
          <p:cNvPr id="129" name="Google Shape;129;p1"/>
          <p:cNvSpPr txBox="1"/>
          <p:nvPr/>
        </p:nvSpPr>
        <p:spPr>
          <a:xfrm>
            <a:off x="3792125" y="1575500"/>
            <a:ext cx="51159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 to Data Analytics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Muhammad Ferdy Fawwaz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2d573b007e0_42_72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138" name="Google Shape;138;g2d573b007e0_42_7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2d573b007e0_42_7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2d573b007e0_42_7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g2d573b007e0_42_72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142" name="Google Shape;142;g2d573b007e0_42_7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2d573b007e0_42_7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2d573b007e0_42_7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2d573b007e0_42_7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2d573b007e0_42_7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2d573b007e0_42_7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2d573b007e0_42_7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2d573b007e0_42_7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2d573b007e0_42_7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g2d573b007e0_42_7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52" name="Google Shape;152;g2d573b007e0_42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d573b007e0_42_72"/>
          <p:cNvSpPr txBox="1"/>
          <p:nvPr/>
        </p:nvSpPr>
        <p:spPr>
          <a:xfrm>
            <a:off x="278025" y="454325"/>
            <a:ext cx="8462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2800" u="none" cap="none" strike="noStrike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Petunjuk Pengerjaan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2d573b007e0_42_72"/>
          <p:cNvSpPr txBox="1"/>
          <p:nvPr/>
        </p:nvSpPr>
        <p:spPr>
          <a:xfrm>
            <a:off x="212775" y="1001700"/>
            <a:ext cx="8462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Dokumen ini memang tidak open access untuk edit, maka silahkan copy file ini lalu kerjakanlah pada device masing-masing, dengan cara klik </a:t>
            </a:r>
            <a:r>
              <a:rPr b="1" i="0" lang="en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File</a:t>
            </a: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pada pojok kiri atas, pilih </a:t>
            </a:r>
            <a:r>
              <a:rPr b="1" i="0" lang="en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Make a Copy</a:t>
            </a: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Setelah file berhasil di copy, ubah nama sesuai nama masing-masing.</a:t>
            </a:r>
            <a:b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Untuk mengerjakan, perhatikan petunjuk dibawah ini:</a:t>
            </a:r>
            <a:endParaRPr b="1" i="0" sz="1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Jawablah masing-masing pertanyaan di slide selanjutnya berdasarkan pengetahuanmu dan berdasarkan apa yang kamu pahami pada materi tiap sesi.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pengaturan akses file sebagai </a:t>
            </a:r>
            <a:r>
              <a:rPr b="1" i="0" lang="en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Publik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namun cukup </a:t>
            </a:r>
            <a:r>
              <a:rPr b="1" i="0" lang="en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View Only 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agar tugas dapat dicek oleh Class Assistant.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Silahkan kirim link sheet mini task berikut di form pengumpulan mini task yang sudah tersedia di </a:t>
            </a:r>
            <a:r>
              <a:rPr b="0" i="0" lang="en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To Do List bootcamp Data Analysis batch 21.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pekerjaanmu di LinkedIn dan tag </a:t>
            </a:r>
            <a:r>
              <a:rPr b="1" i="0" lang="en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@MySkill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juga </a:t>
            </a:r>
            <a:r>
              <a:rPr b="1" i="0" lang="en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Class Assistant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mendampingi serta </a:t>
            </a:r>
            <a:r>
              <a:rPr b="1" i="0" lang="en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Tutor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mengajar di sesi kelas. Yang di upload boleh berupa file PPT, maupun screenshot dari file ini.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/>
        </p:nvSpPr>
        <p:spPr>
          <a:xfrm>
            <a:off x="359325" y="652600"/>
            <a:ext cx="8428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Konteks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 salah satu Online Travel Agent Company kalian berperan sebagai data analyst untuk product Flight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Ditemukan sebuah anomali bahwa terjadi lonjakan penjualan pada tanggal 3 November 2023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Lonjakan terjadi sebesar 50% dibanding hari sebelumnya dan 25% dibanding tanggal yang sama bulan lalu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Dilain sisi, terdapat 2 promo marketing campaign yang sedang berjalan: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 Flight 50% dengan max. 200 ribu untuk pelanggan baru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 Flight 10% dengan max 500 ribu untuk pelanggan lama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Dilain sisi, ada promo referral yang sedang berjalan dibulan ini dimana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Setiap user yang join / bertransaksi untuk pertama kali, akan mendapatkan hadiah IDR 50k untuk orang yang diajak dan mengajak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datang ke kalian untuk mencari tahu apa penyebab terjadinya kejadian diatas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3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161" name="Google Shape;161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3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165" name="Google Shape;165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6" name="Google Shape;1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Problem 1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359325" y="3541700"/>
            <a:ext cx="851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Buatkan Analytical Thinking Framework untuk case diatas yang mencakup: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g34d10c57893_0_0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184" name="Google Shape;184;g34d10c57893_0_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34d10c57893_0_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4d10c57893_0_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g34d10c57893_0_0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188" name="Google Shape;188;g34d10c57893_0_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4d10c57893_0_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4d10c57893_0_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34d10c57893_0_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4d10c57893_0_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4d10c57893_0_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4d10c57893_0_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4d10c57893_0_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4d10c57893_0_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g34d10c57893_0_0"/>
          <p:cNvSpPr/>
          <p:nvPr/>
        </p:nvSpPr>
        <p:spPr>
          <a:xfrm rot="10800000">
            <a:off x="-381375" y="1893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4d10c57893_0_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99" name="Google Shape;199;g34d10c5789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4d10c57893_0_0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Jawaban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g34d10c57893_0_0"/>
          <p:cNvSpPr txBox="1"/>
          <p:nvPr/>
        </p:nvSpPr>
        <p:spPr>
          <a:xfrm>
            <a:off x="1188875" y="1575675"/>
            <a:ext cx="47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g34d10c57893_0_0"/>
          <p:cNvSpPr txBox="1"/>
          <p:nvPr/>
        </p:nvSpPr>
        <p:spPr>
          <a:xfrm>
            <a:off x="359325" y="1158975"/>
            <a:ext cx="4434900" cy="1316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1">
              <a:solidFill>
                <a:srgbClr val="18919B"/>
              </a:solidFill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Terdapat lonjakan penjualan Flight sebesar 50% dibandingkan hari sebelumnya dan 25% dibandingkan tanggal yang sama bulan lalu (3 Oktober). Lonjakan ini terjadi saat beberapa campaign dan promo aktif, termasuk promo khusus user baru dan program referral.</a:t>
            </a:r>
            <a:endParaRPr>
              <a:solidFill>
                <a:srgbClr val="18919B"/>
              </a:solidFill>
            </a:endParaRPr>
          </a:p>
        </p:txBody>
      </p:sp>
      <p:sp>
        <p:nvSpPr>
          <p:cNvPr id="203" name="Google Shape;203;g34d10c57893_0_0"/>
          <p:cNvSpPr txBox="1"/>
          <p:nvPr/>
        </p:nvSpPr>
        <p:spPr>
          <a:xfrm>
            <a:off x="359325" y="766725"/>
            <a:ext cx="51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Konteks: Data Analyst at </a:t>
            </a:r>
            <a:r>
              <a:rPr lang="en">
                <a:solidFill>
                  <a:schemeClr val="dk2"/>
                </a:solidFill>
              </a:rPr>
              <a:t>OTA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4d10c57893_0_0"/>
          <p:cNvSpPr txBox="1"/>
          <p:nvPr/>
        </p:nvSpPr>
        <p:spPr>
          <a:xfrm>
            <a:off x="4857500" y="1158975"/>
            <a:ext cx="4152300" cy="1316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Mengidentifikasi faktor utama penyebab lonjakan penjualan pada 3 November, baik dari sisi campaign, referral, maupun faktor eksternal lainnya.</a:t>
            </a:r>
            <a:endParaRPr sz="1100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919B"/>
              </a:solidFill>
            </a:endParaRPr>
          </a:p>
        </p:txBody>
      </p:sp>
      <p:sp>
        <p:nvSpPr>
          <p:cNvPr id="205" name="Google Shape;205;g34d10c57893_0_0"/>
          <p:cNvSpPr txBox="1"/>
          <p:nvPr/>
        </p:nvSpPr>
        <p:spPr>
          <a:xfrm>
            <a:off x="359325" y="2586000"/>
            <a:ext cx="4434900" cy="1682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When: H-14 sampai H+3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What: Jumlah transaksi, pengguna promo 50% vs 10%, jumlah user baru/lama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Where: Platform (web/app), lokasi (top city), tujuan penerbangan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Who</a:t>
            </a:r>
            <a:r>
              <a:rPr b="1" lang="en" sz="1100">
                <a:solidFill>
                  <a:schemeClr val="accent5"/>
                </a:solidFill>
              </a:rPr>
              <a:t>:</a:t>
            </a:r>
            <a:r>
              <a:rPr lang="en" sz="1100">
                <a:solidFill>
                  <a:schemeClr val="accent5"/>
                </a:solidFill>
              </a:rPr>
              <a:t> Segmentasi user baru/lama, pengguna referral, pengguna yang pakai promo</a:t>
            </a:r>
            <a:endParaRPr b="1" sz="11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4d10c57893_0_0"/>
          <p:cNvSpPr txBox="1"/>
          <p:nvPr/>
        </p:nvSpPr>
        <p:spPr>
          <a:xfrm>
            <a:off x="4857500" y="2586000"/>
            <a:ext cx="4152300" cy="1682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0" sz="11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H1 Lonjakan disebabkan oleh user baru yang pakai promo 50%.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H2 User lama lebih aktif karena promo 10% besar (max 500k).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H3 Referral campaign meningkatkan akuisisi user baru secara signifikan.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H4 Lonjakan disebabkan oleh event eksternal (misalnya long weekend / cuti bersama).</a:t>
            </a:r>
            <a:endParaRPr sz="1100">
              <a:solidFill>
                <a:srgbClr val="18919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"/>
          <p:cNvSpPr txBox="1"/>
          <p:nvPr/>
        </p:nvSpPr>
        <p:spPr>
          <a:xfrm>
            <a:off x="359325" y="652600"/>
            <a:ext cx="8428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Konteks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 salah satu Money Transfer company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Ditemukan rata-rata waktu tunggu transaksi mengalami lonjakan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 ini menyebabkan banyak user yang complaint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Kejadian terjadi selama periode 1-5 Nov 2023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Belum diketahui penyebab dari insiden diatas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2" name="Google Shape;212;p4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13" name="Google Shape;213;p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4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17" name="Google Shape;217;p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4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28" name="Google Shape;2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Problem 2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359325" y="2274300"/>
            <a:ext cx="851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Buatkan Analytical Thinking Framework untuk case diatas yang mencakup: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g34d10c57893_0_5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236" name="Google Shape;236;g34d10c57893_0_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4d10c57893_0_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4d10c57893_0_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g34d10c57893_0_5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240" name="Google Shape;240;g34d10c57893_0_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4d10c57893_0_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34d10c57893_0_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4d10c57893_0_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4d10c57893_0_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4d10c57893_0_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4d10c57893_0_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4d10c57893_0_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4d10c57893_0_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Google Shape;249;g34d10c57893_0_5"/>
          <p:cNvSpPr/>
          <p:nvPr/>
        </p:nvSpPr>
        <p:spPr>
          <a:xfrm rot="10800000">
            <a:off x="-381375" y="1893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4d10c57893_0_5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51" name="Google Shape;251;g34d10c57893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4d10c57893_0_5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Jawaban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g34d10c57893_0_5"/>
          <p:cNvSpPr txBox="1"/>
          <p:nvPr/>
        </p:nvSpPr>
        <p:spPr>
          <a:xfrm>
            <a:off x="1188875" y="1575675"/>
            <a:ext cx="47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34d10c57893_0_5"/>
          <p:cNvSpPr txBox="1"/>
          <p:nvPr/>
        </p:nvSpPr>
        <p:spPr>
          <a:xfrm>
            <a:off x="359325" y="1158975"/>
            <a:ext cx="4434900" cy="1682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1">
              <a:solidFill>
                <a:srgbClr val="18919B"/>
              </a:solidFill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Pada periode </a:t>
            </a:r>
            <a:r>
              <a:rPr b="1" lang="en" sz="1100">
                <a:solidFill>
                  <a:schemeClr val="accent5"/>
                </a:solidFill>
              </a:rPr>
              <a:t>1–5 November 2023</a:t>
            </a:r>
            <a:r>
              <a:rPr lang="en" sz="1100">
                <a:solidFill>
                  <a:schemeClr val="accent5"/>
                </a:solidFill>
              </a:rPr>
              <a:t>, terjadi lonjakan signifikan pada </a:t>
            </a:r>
            <a:r>
              <a:rPr b="1" lang="en" sz="1100">
                <a:solidFill>
                  <a:schemeClr val="accent5"/>
                </a:solidFill>
              </a:rPr>
              <a:t>rata-rata waktu tunggu transaksi</a:t>
            </a:r>
            <a:r>
              <a:rPr lang="en" sz="1100">
                <a:solidFill>
                  <a:schemeClr val="accent5"/>
                </a:solidFill>
              </a:rPr>
              <a:t> yang menyebabkan banyak komplain dari user. Indikasi awal menunjukkan potensi </a:t>
            </a:r>
            <a:r>
              <a:rPr b="1" lang="en" sz="1100">
                <a:solidFill>
                  <a:schemeClr val="accent5"/>
                </a:solidFill>
              </a:rPr>
              <a:t>gangguan sistem, server overload, atau lonjakan trafik</a:t>
            </a:r>
            <a:r>
              <a:rPr lang="en" sz="1100">
                <a:solidFill>
                  <a:schemeClr val="accent5"/>
                </a:solidFill>
              </a:rPr>
              <a:t>.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5" name="Google Shape;255;g34d10c57893_0_5"/>
          <p:cNvSpPr txBox="1"/>
          <p:nvPr/>
        </p:nvSpPr>
        <p:spPr>
          <a:xfrm>
            <a:off x="359325" y="766725"/>
            <a:ext cx="51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Konteks: Data Analyst at </a:t>
            </a:r>
            <a:r>
              <a:rPr lang="en">
                <a:solidFill>
                  <a:schemeClr val="dk2"/>
                </a:solidFill>
              </a:rPr>
              <a:t>Fintech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4d10c57893_0_5"/>
          <p:cNvSpPr txBox="1"/>
          <p:nvPr/>
        </p:nvSpPr>
        <p:spPr>
          <a:xfrm>
            <a:off x="4857500" y="1158975"/>
            <a:ext cx="4152300" cy="1682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>
              <a:solidFill>
                <a:srgbClr val="18919B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Mengidentifikasi </a:t>
            </a:r>
            <a:r>
              <a:rPr b="1" lang="en" sz="1100">
                <a:solidFill>
                  <a:schemeClr val="accent5"/>
                </a:solidFill>
              </a:rPr>
              <a:t>akar penyebab</a:t>
            </a:r>
            <a:r>
              <a:rPr lang="en" sz="1100">
                <a:solidFill>
                  <a:schemeClr val="accent5"/>
                </a:solidFill>
              </a:rPr>
              <a:t> meningkatnya waktu tunggu transaksi pada periode 1–5 November secara data-driven.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Memberikan </a:t>
            </a:r>
            <a:r>
              <a:rPr b="1" lang="en" sz="1100">
                <a:solidFill>
                  <a:schemeClr val="accent5"/>
                </a:solidFill>
              </a:rPr>
              <a:t>rekomendasi berbasis temuan teknis dan operasional</a:t>
            </a:r>
            <a:r>
              <a:rPr lang="en" sz="1100">
                <a:solidFill>
                  <a:schemeClr val="accent5"/>
                </a:solidFill>
              </a:rPr>
              <a:t> untuk:</a:t>
            </a:r>
            <a:endParaRPr sz="1100">
              <a:solidFill>
                <a:schemeClr val="accent5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○"/>
            </a:pPr>
            <a:r>
              <a:rPr lang="en" sz="1100">
                <a:solidFill>
                  <a:schemeClr val="accent5"/>
                </a:solidFill>
              </a:rPr>
              <a:t>Menurunkan latency transaksi.</a:t>
            </a:r>
            <a:endParaRPr sz="1100">
              <a:solidFill>
                <a:schemeClr val="accent5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accent5"/>
                </a:solidFill>
              </a:rPr>
              <a:t>Meningkatkan </a:t>
            </a:r>
            <a:r>
              <a:rPr b="1" lang="en" sz="1100">
                <a:solidFill>
                  <a:schemeClr val="accent5"/>
                </a:solidFill>
              </a:rPr>
              <a:t>reliabilitas sistem</a:t>
            </a:r>
            <a:r>
              <a:rPr lang="en" sz="1100">
                <a:solidFill>
                  <a:schemeClr val="accent5"/>
                </a:solidFill>
              </a:rPr>
              <a:t> dan </a:t>
            </a:r>
            <a:r>
              <a:rPr b="1" lang="en" sz="1100">
                <a:solidFill>
                  <a:schemeClr val="accent5"/>
                </a:solidFill>
              </a:rPr>
              <a:t>kepuasan pengguna</a:t>
            </a:r>
            <a:r>
              <a:rPr lang="en" sz="1100">
                <a:solidFill>
                  <a:schemeClr val="accent5"/>
                </a:solidFill>
              </a:rPr>
              <a:t>.</a:t>
            </a:r>
            <a:endParaRPr sz="1100">
              <a:solidFill>
                <a:srgbClr val="18919B"/>
              </a:solidFill>
            </a:endParaRPr>
          </a:p>
        </p:txBody>
      </p:sp>
      <p:sp>
        <p:nvSpPr>
          <p:cNvPr id="257" name="Google Shape;257;g34d10c57893_0_5"/>
          <p:cNvSpPr txBox="1"/>
          <p:nvPr/>
        </p:nvSpPr>
        <p:spPr>
          <a:xfrm>
            <a:off x="359325" y="2828102"/>
            <a:ext cx="4434900" cy="1975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>
              <a:solidFill>
                <a:srgbClr val="18919B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When</a:t>
            </a:r>
            <a:r>
              <a:rPr b="1" lang="en" sz="1100">
                <a:solidFill>
                  <a:schemeClr val="accent5"/>
                </a:solidFill>
              </a:rPr>
              <a:t>: </a:t>
            </a:r>
            <a:r>
              <a:rPr lang="en" sz="1100">
                <a:solidFill>
                  <a:schemeClr val="accent5"/>
                </a:solidFill>
              </a:rPr>
              <a:t>Periode transaksi: 1–5 Nov 2023, dibandingkan dengan baseline minggu sebelumnya (25–31 Okt), time-granularity: per jam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What</a:t>
            </a:r>
            <a:r>
              <a:rPr b="1" lang="en" sz="1100">
                <a:solidFill>
                  <a:schemeClr val="accent5"/>
                </a:solidFill>
              </a:rPr>
              <a:t>:</a:t>
            </a:r>
            <a:r>
              <a:rPr lang="en" sz="1100">
                <a:solidFill>
                  <a:schemeClr val="accent5"/>
                </a:solidFill>
              </a:rPr>
              <a:t> Waktu tunggu (latency) per transaksi, Jumlah transaksi per menit/jam, Status transaksi (success, pending, fail)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Where: Platform: Android, iOS, Web, Server region (jika applicable), Lokasi user saat transaksi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Who: User baru vs lama, Heavy user vs normal</a:t>
            </a:r>
            <a:endParaRPr sz="11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4d10c57893_0_5"/>
          <p:cNvSpPr txBox="1"/>
          <p:nvPr/>
        </p:nvSpPr>
        <p:spPr>
          <a:xfrm>
            <a:off x="4857500" y="2828100"/>
            <a:ext cx="4152300" cy="1975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Point </a:t>
            </a:r>
            <a:r>
              <a:rPr b="1" lang="en" sz="1100">
                <a:solidFill>
                  <a:srgbClr val="18919B"/>
                </a:solidFill>
              </a:rPr>
              <a:t>t</a:t>
            </a:r>
            <a:r>
              <a:rPr b="1" i="0" lang="en" sz="11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o be checked/ Initial Hypotheses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H1 Server down / overload	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H2 Terjadi spike volume transaksi di peak hour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H3 Delay hanya terjadi di platform tertentu	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H4 Delay terjadi hanya di jenis transaksi tertentu	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H5 Ada release baru / update app yang menyebabkan bug	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H6 Komplain lebih banyak datang dari wilayah tertentu</a:t>
            </a:r>
            <a:endParaRPr sz="1100">
              <a:solidFill>
                <a:srgbClr val="18919B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919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"/>
          <p:cNvSpPr txBox="1"/>
          <p:nvPr/>
        </p:nvSpPr>
        <p:spPr>
          <a:xfrm>
            <a:off x="359325" y="652600"/>
            <a:ext cx="8428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Konteks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Anda merupakan salah satu Marketing Data Analyst di salah satu Tech Company.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Ditemukan bahwa terjadi penurunan jumlah akuisisi customer*, padahal secara budget iklan yang dikeluarkan cenderung stagnan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 ini menyebabkan biaya akuisisi pelanggan (CAC, customer acquisition cost) menjadi lebih mahal.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Kejadian terjadi di sepanjang pekan ke-3 dan ke-4 akhir tahun 2023 kemarin.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akusisi customer: jumlah customer yang mendaftar kedalam app / platform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5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65" name="Google Shape;265;p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5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69" name="Google Shape;269;p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p5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80" name="Google Shape;2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Problem 3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5"/>
          <p:cNvSpPr txBox="1"/>
          <p:nvPr/>
        </p:nvSpPr>
        <p:spPr>
          <a:xfrm>
            <a:off x="359325" y="3177250"/>
            <a:ext cx="851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Buatkan Analytical Thinking Framework untuk case diatas yang mencakup: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6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288" name="Google Shape;288;p6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6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292" name="Google Shape;292;p6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" name="Google Shape;301;p6"/>
          <p:cNvSpPr/>
          <p:nvPr/>
        </p:nvSpPr>
        <p:spPr>
          <a:xfrm rot="10800000">
            <a:off x="-381375" y="1893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303" name="Google Shape;3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6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Jawaban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6"/>
          <p:cNvSpPr txBox="1"/>
          <p:nvPr/>
        </p:nvSpPr>
        <p:spPr>
          <a:xfrm>
            <a:off x="1188875" y="1575675"/>
            <a:ext cx="47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359325" y="1158975"/>
            <a:ext cx="4434900" cy="16827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1">
              <a:solidFill>
                <a:srgbClr val="18919B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Pada </a:t>
            </a:r>
            <a:r>
              <a:rPr b="1" lang="en" sz="1100">
                <a:solidFill>
                  <a:srgbClr val="18919B"/>
                </a:solidFill>
              </a:rPr>
              <a:t>pekan ke-3 dan ke-4 akhir tahun 2023</a:t>
            </a:r>
            <a:r>
              <a:rPr lang="en" sz="1100">
                <a:solidFill>
                  <a:srgbClr val="18919B"/>
                </a:solidFill>
              </a:rPr>
              <a:t>, terjadi </a:t>
            </a:r>
            <a:r>
              <a:rPr b="1" lang="en" sz="1100">
                <a:solidFill>
                  <a:srgbClr val="18919B"/>
                </a:solidFill>
              </a:rPr>
              <a:t>penurunan jumlah akuisisi customer</a:t>
            </a:r>
            <a:r>
              <a:rPr lang="en" sz="1100">
                <a:solidFill>
                  <a:srgbClr val="18919B"/>
                </a:solidFill>
              </a:rPr>
              <a:t> (jumlah user yang mendaftar ke platform).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Padahal, </a:t>
            </a:r>
            <a:r>
              <a:rPr b="1" lang="en" sz="1100">
                <a:solidFill>
                  <a:srgbClr val="18919B"/>
                </a:solidFill>
              </a:rPr>
              <a:t>budget iklan yang dikeluarkan tetap atau tidak berubah</a:t>
            </a:r>
            <a:r>
              <a:rPr lang="en" sz="1100">
                <a:solidFill>
                  <a:srgbClr val="18919B"/>
                </a:solidFill>
              </a:rPr>
              <a:t> secara signifikan dibanding periode sebelumnya.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Akibatnya, </a:t>
            </a:r>
            <a:r>
              <a:rPr b="1" lang="en" sz="1100">
                <a:solidFill>
                  <a:srgbClr val="18919B"/>
                </a:solidFill>
              </a:rPr>
              <a:t>Customer Acquisition Cost (CAC)</a:t>
            </a:r>
            <a:r>
              <a:rPr lang="en" sz="1100">
                <a:solidFill>
                  <a:srgbClr val="18919B"/>
                </a:solidFill>
              </a:rPr>
              <a:t> meningkat, yang berdampak pada efisiensi dan efektivitas marketing funnel.</a:t>
            </a:r>
            <a:endParaRPr sz="1100">
              <a:solidFill>
                <a:srgbClr val="18919B"/>
              </a:solidFill>
            </a:endParaRPr>
          </a:p>
        </p:txBody>
      </p:sp>
      <p:sp>
        <p:nvSpPr>
          <p:cNvPr id="307" name="Google Shape;307;p6"/>
          <p:cNvSpPr txBox="1"/>
          <p:nvPr/>
        </p:nvSpPr>
        <p:spPr>
          <a:xfrm>
            <a:off x="359325" y="766725"/>
            <a:ext cx="51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Konteks: Data Analyst at </a:t>
            </a:r>
            <a:r>
              <a:rPr lang="en">
                <a:solidFill>
                  <a:schemeClr val="dk2"/>
                </a:solidFill>
              </a:rPr>
              <a:t>TC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4794225" y="1158975"/>
            <a:ext cx="4152300" cy="16629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8919B"/>
                </a:solidFill>
              </a:rPr>
              <a:t>Mengidentifikasi penyebab utama dari penurunan jumlah akuisisi customer di pekan ke-3 dan ke-4 akhir tahun.</a:t>
            </a:r>
            <a:endParaRPr sz="1100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8919B"/>
                </a:solidFill>
              </a:rPr>
              <a:t>Memberikan rekomendasi berbasis data untuk: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Mengoptimalkan kembali performa akuisisi customer.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Menurunkan CAC dan meningkatkan ROI dari iklan.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Memastikan funnel marketing berjalan efisien.</a:t>
            </a:r>
            <a:endParaRPr>
              <a:solidFill>
                <a:srgbClr val="18919B"/>
              </a:solidFill>
            </a:endParaRPr>
          </a:p>
        </p:txBody>
      </p:sp>
      <p:sp>
        <p:nvSpPr>
          <p:cNvPr id="309" name="Google Shape;309;p6"/>
          <p:cNvSpPr txBox="1"/>
          <p:nvPr/>
        </p:nvSpPr>
        <p:spPr>
          <a:xfrm>
            <a:off x="359325" y="2822000"/>
            <a:ext cx="4434900" cy="195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When: </a:t>
            </a:r>
            <a:r>
              <a:rPr lang="en" sz="1100">
                <a:solidFill>
                  <a:schemeClr val="accent5"/>
                </a:solidFill>
              </a:rPr>
              <a:t>Periode: Pekan ke-3 dan ke-4 Desember 2023 (atau minggu 3 &amp; 4 Q4 2023).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Bandingkan dengan minggu 1–2 Desember dan/atau minggu yang sama tahun lalu (YoY).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What:</a:t>
            </a:r>
            <a:r>
              <a:rPr lang="en" sz="1100">
                <a:solidFill>
                  <a:schemeClr val="accent5"/>
                </a:solidFill>
              </a:rPr>
              <a:t> </a:t>
            </a:r>
            <a:r>
              <a:rPr lang="en" sz="1100">
                <a:solidFill>
                  <a:schemeClr val="accent5"/>
                </a:solidFill>
              </a:rPr>
              <a:t>Jumlah akuisisi (registrasi user baru), Impressions, clicks, CTR, conversion rate, CAC per channel,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Where: </a:t>
            </a:r>
            <a:r>
              <a:rPr lang="en" sz="1100">
                <a:solidFill>
                  <a:schemeClr val="accent5"/>
                </a:solidFill>
              </a:rPr>
              <a:t> Channel: Google Ads, Meta, TikTok, Programmatic, Organic. Platform: iOS, Android, Web</a:t>
            </a:r>
            <a:endParaRPr sz="1100">
              <a:solidFill>
                <a:schemeClr val="accent5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Char char="●"/>
            </a:pPr>
            <a:r>
              <a:rPr lang="en" sz="1100">
                <a:solidFill>
                  <a:schemeClr val="accent5"/>
                </a:solidFill>
              </a:rPr>
              <a:t>Who:</a:t>
            </a:r>
            <a:r>
              <a:rPr lang="en" sz="1100">
                <a:solidFill>
                  <a:schemeClr val="accent5"/>
                </a:solidFill>
              </a:rPr>
              <a:t> </a:t>
            </a:r>
            <a:r>
              <a:rPr lang="en" sz="1100">
                <a:solidFill>
                  <a:schemeClr val="accent5"/>
                </a:solidFill>
              </a:rPr>
              <a:t>Target audience segment (age, gender, interest). Audience behavior change (repeat vs new visitor)</a:t>
            </a:r>
            <a:endParaRPr sz="1100">
              <a:solidFill>
                <a:schemeClr val="accent5"/>
              </a:solidFill>
            </a:endParaRPr>
          </a:p>
        </p:txBody>
      </p:sp>
      <p:sp>
        <p:nvSpPr>
          <p:cNvPr id="310" name="Google Shape;310;p6"/>
          <p:cNvSpPr txBox="1"/>
          <p:nvPr/>
        </p:nvSpPr>
        <p:spPr>
          <a:xfrm>
            <a:off x="4794225" y="2837250"/>
            <a:ext cx="4152300" cy="195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H1 Conversion rate menurun meskipun impressions &amp; clicks tetap → indikasi masalah di landing page / funnel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H2 Target audience sudah jenuh / overexposed (ad fatigue)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H3 Ad creative kurang menarik / tidak relevan</a:t>
            </a:r>
            <a:endParaRPr sz="1100">
              <a:solidFill>
                <a:srgbClr val="18919B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100"/>
              <a:buChar char="●"/>
            </a:pPr>
            <a:r>
              <a:rPr lang="en" sz="1100">
                <a:solidFill>
                  <a:srgbClr val="18919B"/>
                </a:solidFill>
              </a:rPr>
              <a:t>H4Trafik dari channel yang CAC-nya tinggi meningkat proporsinya</a:t>
            </a:r>
            <a:endParaRPr sz="1100">
              <a:solidFill>
                <a:srgbClr val="18919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