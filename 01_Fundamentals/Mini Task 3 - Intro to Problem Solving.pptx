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Caveat"/>
      <p:regular r:id="rId18"/>
      <p:bold r:id="rId19"/>
    </p:embeddedFont>
    <p:embeddedFont>
      <p:font typeface="Proxima Nova Extrabold"/>
      <p:bold r:id="rId20"/>
    </p:embeddedFont>
    <p:embeddedFont>
      <p:font typeface="Helvetica Neue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jiwxyBb6J0fUb94yLqvyJclKmv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Extrabold-bold.fntdata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Caveat-bold.fntdata"/><Relationship Id="rId18" Type="http://schemas.openxmlformats.org/officeDocument/2006/relationships/font" Target="fonts/Cave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2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6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5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 1 1 1 1 1">
  <p:cSld name="TITLE_3_1_1_1_1_1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144">
          <p15:clr>
            <a:srgbClr val="FA7B17"/>
          </p15:clr>
        </p15:guide>
        <p15:guide id="4" pos="288">
          <p15:clr>
            <a:srgbClr val="FA7B17"/>
          </p15:clr>
        </p15:guide>
        <p15:guide id="5" pos="5616">
          <p15:clr>
            <a:srgbClr val="FA7B17"/>
          </p15:clr>
        </p15:guide>
        <p15:guide id="6" pos="5397">
          <p15:clr>
            <a:srgbClr val="FA7B17"/>
          </p15:clr>
        </p15:guide>
        <p15:guide id="7" pos="1716">
          <p15:clr>
            <a:srgbClr val="FA7B17"/>
          </p15:clr>
        </p15:guide>
        <p15:guide id="8" pos="4067">
          <p15:clr>
            <a:srgbClr val="FA7B17"/>
          </p15:clr>
        </p15:guide>
        <p15:guide id="9" pos="2592">
          <p15:clr>
            <a:srgbClr val="FA7B17"/>
          </p15:clr>
        </p15:guide>
        <p15:guide id="10" orient="horz" pos="2995">
          <p15:clr>
            <a:srgbClr val="FA7B17"/>
          </p15:clr>
        </p15:guide>
        <p15:guide id="11" orient="horz" pos="288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OBJECT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title"/>
          </p:nvPr>
        </p:nvSpPr>
        <p:spPr>
          <a:xfrm>
            <a:off x="3203096" y="685418"/>
            <a:ext cx="27378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4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jp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B0A6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2464027" y="1138664"/>
            <a:ext cx="4050536" cy="3979652"/>
          </a:xfrm>
          <a:custGeom>
            <a:rect b="b" l="l" r="r" t="t"/>
            <a:pathLst>
              <a:path extrusionOk="0" h="7959303" w="8101072">
                <a:moveTo>
                  <a:pt x="0" y="0"/>
                </a:moveTo>
                <a:lnTo>
                  <a:pt x="8101072" y="0"/>
                </a:lnTo>
                <a:lnTo>
                  <a:pt x="8101072" y="7959303"/>
                </a:lnTo>
                <a:lnTo>
                  <a:pt x="0" y="79593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1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-1486429" y="-2463857"/>
            <a:ext cx="6794500" cy="67945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6274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3851993" y="167243"/>
            <a:ext cx="922357" cy="404684"/>
          </a:xfrm>
          <a:custGeom>
            <a:rect b="b" l="l" r="r" t="t"/>
            <a:pathLst>
              <a:path extrusionOk="0" h="809368" w="1844714">
                <a:moveTo>
                  <a:pt x="0" y="0"/>
                </a:moveTo>
                <a:lnTo>
                  <a:pt x="1844714" y="0"/>
                </a:lnTo>
                <a:lnTo>
                  <a:pt x="1844714" y="809368"/>
                </a:lnTo>
                <a:lnTo>
                  <a:pt x="0" y="809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5" name="Google Shape;75;p1"/>
          <p:cNvCxnSpPr/>
          <p:nvPr/>
        </p:nvCxnSpPr>
        <p:spPr>
          <a:xfrm>
            <a:off x="4937899" y="230112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"/>
          <p:cNvSpPr txBox="1"/>
          <p:nvPr/>
        </p:nvSpPr>
        <p:spPr>
          <a:xfrm>
            <a:off x="5099824" y="205086"/>
            <a:ext cx="2213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1"/>
          <p:cNvPicPr preferRelativeResize="0"/>
          <p:nvPr/>
        </p:nvPicPr>
        <p:blipFill rotWithShape="1">
          <a:blip r:embed="rId5">
            <a:alphaModFix/>
          </a:blip>
          <a:srcRect b="0" l="56640" r="0" t="0"/>
          <a:stretch/>
        </p:blipFill>
        <p:spPr>
          <a:xfrm>
            <a:off x="0" y="-169046"/>
            <a:ext cx="3560601" cy="5481591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"/>
          <p:cNvSpPr/>
          <p:nvPr/>
        </p:nvSpPr>
        <p:spPr>
          <a:xfrm>
            <a:off x="3560603" y="1449959"/>
            <a:ext cx="7654829" cy="2243582"/>
          </a:xfrm>
          <a:custGeom>
            <a:rect b="b" l="l" r="r" t="t"/>
            <a:pathLst>
              <a:path extrusionOk="0" h="4487164" w="15309658">
                <a:moveTo>
                  <a:pt x="0" y="0"/>
                </a:moveTo>
                <a:lnTo>
                  <a:pt x="15309658" y="0"/>
                </a:lnTo>
                <a:lnTo>
                  <a:pt x="15309658" y="4487164"/>
                </a:lnTo>
                <a:lnTo>
                  <a:pt x="0" y="4487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 b="0" l="-22116" r="0" t="0"/>
            </a:stretch>
          </a:blipFill>
          <a:ln>
            <a:noFill/>
          </a:ln>
        </p:spPr>
      </p:sp>
      <p:sp>
        <p:nvSpPr>
          <p:cNvPr id="79" name="Google Shape;79;p1"/>
          <p:cNvSpPr txBox="1"/>
          <p:nvPr/>
        </p:nvSpPr>
        <p:spPr>
          <a:xfrm>
            <a:off x="3792125" y="1575500"/>
            <a:ext cx="5115900" cy="19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Introduction to Problem Solving</a:t>
            </a:r>
            <a:endParaRPr b="1" i="0" sz="5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"/>
          <p:cNvSpPr txBox="1"/>
          <p:nvPr/>
        </p:nvSpPr>
        <p:spPr>
          <a:xfrm>
            <a:off x="3792125" y="799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Portofolio - Intensive Bootcamp</a:t>
            </a:r>
            <a:endParaRPr b="1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"/>
          <p:cNvSpPr txBox="1"/>
          <p:nvPr/>
        </p:nvSpPr>
        <p:spPr>
          <a:xfrm>
            <a:off x="3792125" y="381280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Owner: </a:t>
            </a:r>
            <a:r>
              <a:rPr lang="en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Muhammad Ferdy Fawwaz</a:t>
            </a:r>
            <a:endParaRPr b="0" i="0" sz="2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792125" y="4412750"/>
            <a:ext cx="51159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Build your skill and portfolio via myskill.id/bootcamp</a:t>
            </a:r>
            <a:endParaRPr b="0" i="0" sz="1400" u="none" cap="none" strike="noStrike">
              <a:solidFill>
                <a:srgbClr val="000000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3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88" name="Google Shape;88;p3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3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92" name="Google Shape;92;p3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3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391625" y="210900"/>
            <a:ext cx="76692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3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Mini Task</a:t>
            </a:r>
            <a:endParaRPr b="1" i="0" sz="3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405450" y="975625"/>
            <a:ext cx="78645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Halojek is a company with 2 main product: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Halofood : a service to provide food delivery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Haloride : a service to provide mobility using motor cycles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revenue on this quarter (Q3, 23) is decreased for 50% compared to same quarter last year (Q3, 22)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4"/>
          <p:cNvGrpSpPr/>
          <p:nvPr/>
        </p:nvGrpSpPr>
        <p:grpSpPr>
          <a:xfrm>
            <a:off x="3854590" y="4740702"/>
            <a:ext cx="1434817" cy="389011"/>
            <a:chOff x="3248325" y="4588800"/>
            <a:chExt cx="2045939" cy="554700"/>
          </a:xfrm>
        </p:grpSpPr>
        <p:sp>
          <p:nvSpPr>
            <p:cNvPr id="110" name="Google Shape;110;p4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4"/>
          <p:cNvGrpSpPr/>
          <p:nvPr/>
        </p:nvGrpSpPr>
        <p:grpSpPr>
          <a:xfrm>
            <a:off x="8325085" y="65155"/>
            <a:ext cx="763768" cy="752531"/>
            <a:chOff x="695950" y="3458000"/>
            <a:chExt cx="966550" cy="952450"/>
          </a:xfrm>
        </p:grpSpPr>
        <p:sp>
          <p:nvSpPr>
            <p:cNvPr id="114" name="Google Shape;114;p4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4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391625" y="210900"/>
            <a:ext cx="76692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3200" u="none" cap="none" strike="noStrike">
                <a:solidFill>
                  <a:srgbClr val="18919B"/>
                </a:solidFill>
                <a:latin typeface="Roboto"/>
                <a:ea typeface="Roboto"/>
                <a:cs typeface="Roboto"/>
                <a:sym typeface="Roboto"/>
              </a:rPr>
              <a:t>Mini Task (Cont)</a:t>
            </a:r>
            <a:endParaRPr b="1" i="0" sz="3200" u="none" cap="none" strike="noStrike">
              <a:solidFill>
                <a:srgbClr val="18919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405450" y="975625"/>
            <a:ext cx="78645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cost for this quarter is as follow: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 cost : IDR 800 Bio,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Labor cost: IDR 750 Bio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 cost: IDR 3,500 Bio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cost for last quarter is as follow: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Marketing cost : IDR 600 Bio,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Labor cost: IDR 600 Bio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 cost: IDR 2000 Bio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Objective: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problem solving framework for the case above, you are a data analyst to deep dive the root cause of cost increasing on this quarter and also provide the alternative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5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32" name="Google Shape;132;p5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5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36" name="Google Shape;136;p5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" name="Google Shape;145;p5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>
            <p:ph idx="4294967295" type="title"/>
          </p:nvPr>
        </p:nvSpPr>
        <p:spPr>
          <a:xfrm>
            <a:off x="348275" y="210200"/>
            <a:ext cx="800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 sz="3600">
                <a:solidFill>
                  <a:srgbClr val="18919B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Step 1: Clarify the Problem</a:t>
            </a:r>
            <a:endParaRPr b="0" sz="2600">
              <a:solidFill>
                <a:srgbClr val="18919B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366050" y="1135588"/>
            <a:ext cx="2398800" cy="1248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deal Condition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/>
              <a:t>Pendapatan Q3 2023 setara atau lebih tinggi dari Q3 2022, pengeluaran operasional tetap efisien (stabil atau turun).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______________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66050" y="3567125"/>
            <a:ext cx="2398800" cy="1248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Condition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Pendapatan Q3 2023 turun 50% dibanding Q3 2022, total biaya operasional naik signifikan terutama pada infrastruktur.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______________________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5"/>
          <p:cNvCxnSpPr>
            <a:stCxn id="149" idx="2"/>
            <a:endCxn id="150" idx="0"/>
          </p:cNvCxnSpPr>
          <p:nvPr/>
        </p:nvCxnSpPr>
        <p:spPr>
          <a:xfrm>
            <a:off x="2565450" y="2383588"/>
            <a:ext cx="0" cy="118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stealth"/>
          </a:ln>
        </p:spPr>
      </p:cxnSp>
      <p:sp>
        <p:nvSpPr>
          <p:cNvPr id="152" name="Google Shape;152;p5"/>
          <p:cNvSpPr/>
          <p:nvPr/>
        </p:nvSpPr>
        <p:spPr>
          <a:xfrm>
            <a:off x="4069950" y="2460025"/>
            <a:ext cx="2837400" cy="1107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Gap: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/>
              <a:t>Penurunan revenue sebesar 50% dan peningkatan biaya IDR 1,850 Bio (terutama dari infrastruktur).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__________________________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5"/>
          <p:cNvCxnSpPr>
            <a:stCxn id="150" idx="0"/>
            <a:endCxn id="152" idx="1"/>
          </p:cNvCxnSpPr>
          <p:nvPr/>
        </p:nvCxnSpPr>
        <p:spPr>
          <a:xfrm rot="-5400000">
            <a:off x="3040950" y="2538125"/>
            <a:ext cx="553500" cy="15045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stealth"/>
          </a:ln>
        </p:spPr>
      </p:cxnSp>
      <p:sp>
        <p:nvSpPr>
          <p:cNvPr id="154" name="Google Shape;154;p5"/>
          <p:cNvSpPr txBox="1"/>
          <p:nvPr/>
        </p:nvSpPr>
        <p:spPr>
          <a:xfrm>
            <a:off x="316325" y="750700"/>
            <a:ext cx="80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Clue: Quantified the gap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6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60" name="Google Shape;160;p6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6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164" name="Google Shape;164;p6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6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>
            <p:ph idx="4294967295" type="title"/>
          </p:nvPr>
        </p:nvSpPr>
        <p:spPr>
          <a:xfrm>
            <a:off x="348275" y="210200"/>
            <a:ext cx="80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200">
                <a:solidFill>
                  <a:srgbClr val="18919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Breakdown the Problem</a:t>
            </a:r>
            <a:endParaRPr b="1" sz="3200">
              <a:solidFill>
                <a:srgbClr val="18919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28263" y="1180700"/>
            <a:ext cx="2398800" cy="94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Condition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/>
              <a:t>Revenue stabil atau naik + biaya operasional terkendali.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_________________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28275" y="3210402"/>
            <a:ext cx="2398800" cy="897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Condition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/>
              <a:t>Revenue turun 50% + biaya naik signifikan.</a:t>
            </a:r>
            <a:endParaRPr sz="1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_________________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6"/>
          <p:cNvCxnSpPr>
            <a:stCxn id="177" idx="2"/>
            <a:endCxn id="178" idx="0"/>
          </p:cNvCxnSpPr>
          <p:nvPr/>
        </p:nvCxnSpPr>
        <p:spPr>
          <a:xfrm>
            <a:off x="1927663" y="2121200"/>
            <a:ext cx="0" cy="108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stealth"/>
          </a:ln>
        </p:spPr>
      </p:cxnSp>
      <p:sp>
        <p:nvSpPr>
          <p:cNvPr id="180" name="Google Shape;180;p6"/>
          <p:cNvSpPr/>
          <p:nvPr/>
        </p:nvSpPr>
        <p:spPr>
          <a:xfrm>
            <a:off x="3432175" y="1976125"/>
            <a:ext cx="1504500" cy="1461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Gap: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/>
              <a:t>Selisih pendapatan dan peningkatan biaya menyebabkan margin sangat tertekan.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________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6"/>
          <p:cNvCxnSpPr>
            <a:stCxn id="178" idx="0"/>
            <a:endCxn id="180" idx="1"/>
          </p:cNvCxnSpPr>
          <p:nvPr/>
        </p:nvCxnSpPr>
        <p:spPr>
          <a:xfrm rot="-5400000">
            <a:off x="2428075" y="2206302"/>
            <a:ext cx="503700" cy="1504500"/>
          </a:xfrm>
          <a:prstGeom prst="bent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stealth"/>
          </a:ln>
        </p:spPr>
      </p:cxnSp>
      <p:sp>
        <p:nvSpPr>
          <p:cNvPr id="182" name="Google Shape;182;p6"/>
          <p:cNvSpPr/>
          <p:nvPr/>
        </p:nvSpPr>
        <p:spPr>
          <a:xfrm>
            <a:off x="5516100" y="1460077"/>
            <a:ext cx="1361700" cy="75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/>
              <a:t>Revenue Decrease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516100" y="2684688"/>
            <a:ext cx="1361700" cy="752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/>
              <a:t>Cost Increase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6"/>
          <p:cNvCxnSpPr>
            <a:stCxn id="180" idx="3"/>
            <a:endCxn id="183" idx="1"/>
          </p:cNvCxnSpPr>
          <p:nvPr/>
        </p:nvCxnSpPr>
        <p:spPr>
          <a:xfrm>
            <a:off x="4936675" y="2706625"/>
            <a:ext cx="579300" cy="3543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6"/>
          <p:cNvCxnSpPr>
            <a:stCxn id="180" idx="3"/>
            <a:endCxn id="182" idx="1"/>
          </p:cNvCxnSpPr>
          <p:nvPr/>
        </p:nvCxnSpPr>
        <p:spPr>
          <a:xfrm flipH="1" rot="10800000">
            <a:off x="4936675" y="1836325"/>
            <a:ext cx="579300" cy="8703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6"/>
          <p:cNvSpPr/>
          <p:nvPr/>
        </p:nvSpPr>
        <p:spPr>
          <a:xfrm>
            <a:off x="7512500" y="1531500"/>
            <a:ext cx="1361700" cy="108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Marketing Cost Increase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(kenaikan dari 600 Bio → 800 Bio)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6"/>
          <p:cNvCxnSpPr>
            <a:stCxn id="183" idx="3"/>
            <a:endCxn id="186" idx="1"/>
          </p:cNvCxnSpPr>
          <p:nvPr/>
        </p:nvCxnSpPr>
        <p:spPr>
          <a:xfrm flipH="1" rot="10800000">
            <a:off x="6877800" y="2076288"/>
            <a:ext cx="634800" cy="9846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6"/>
          <p:cNvSpPr/>
          <p:nvPr/>
        </p:nvSpPr>
        <p:spPr>
          <a:xfrm>
            <a:off x="7512500" y="2744975"/>
            <a:ext cx="1361700" cy="94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Labor Cost Increase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(kenaikan dari 600 Bio → 750 Bio)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512500" y="3766750"/>
            <a:ext cx="1361700" cy="1089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Infrastructure Cost Increase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(kenaikan dari 2,000 Bio → 3,500 Bio)</a:t>
            </a:r>
            <a:endParaRPr b="1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__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6"/>
          <p:cNvCxnSpPr>
            <a:stCxn id="183" idx="3"/>
            <a:endCxn id="188" idx="1"/>
          </p:cNvCxnSpPr>
          <p:nvPr/>
        </p:nvCxnSpPr>
        <p:spPr>
          <a:xfrm>
            <a:off x="6877800" y="3060888"/>
            <a:ext cx="634800" cy="1542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6"/>
          <p:cNvCxnSpPr>
            <a:stCxn id="183" idx="3"/>
            <a:endCxn id="189" idx="1"/>
          </p:cNvCxnSpPr>
          <p:nvPr/>
        </p:nvCxnSpPr>
        <p:spPr>
          <a:xfrm>
            <a:off x="6877800" y="3060888"/>
            <a:ext cx="634800" cy="12504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6"/>
          <p:cNvSpPr txBox="1"/>
          <p:nvPr/>
        </p:nvSpPr>
        <p:spPr>
          <a:xfrm>
            <a:off x="212775" y="748925"/>
            <a:ext cx="80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Clue: Should be data driven | 4W - What, Where, Who, When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7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198" name="Google Shape;198;p7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7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02" name="Google Shape;202;p7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7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>
            <p:ph idx="4294967295" type="title"/>
          </p:nvPr>
        </p:nvSpPr>
        <p:spPr>
          <a:xfrm>
            <a:off x="348275" y="210200"/>
            <a:ext cx="800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8919B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Step 3: Set the Objective</a:t>
            </a:r>
            <a:endParaRPr b="0" sz="2600">
              <a:solidFill>
                <a:srgbClr val="18919B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1927663" y="2121200"/>
            <a:ext cx="0" cy="1089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stealth"/>
          </a:ln>
        </p:spPr>
      </p:cxnSp>
      <p:pic>
        <p:nvPicPr>
          <p:cNvPr id="216" name="Google Shape;2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9325" y="1149175"/>
            <a:ext cx="6028901" cy="2351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359325" y="3718050"/>
            <a:ext cx="6699000" cy="714300"/>
          </a:xfrm>
          <a:prstGeom prst="rect">
            <a:avLst/>
          </a:prstGeom>
          <a:solidFill>
            <a:srgbClr val="18919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_____</a:t>
            </a:r>
            <a:endParaRPr b="1" i="0" sz="1600" u="sng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212775" y="764300"/>
            <a:ext cx="8073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Clue: objective should be quantified and time-bound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" name="Google Shape;223;p8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24" name="Google Shape;224;p8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7" name="Google Shape;227;p8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28" name="Google Shape;228;p8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8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39" name="Google Shape;2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8"/>
          <p:cNvSpPr txBox="1"/>
          <p:nvPr>
            <p:ph idx="4294967295" type="title"/>
          </p:nvPr>
        </p:nvSpPr>
        <p:spPr>
          <a:xfrm>
            <a:off x="348275" y="210200"/>
            <a:ext cx="800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8919B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Step 4: Define the root cause</a:t>
            </a:r>
            <a:endParaRPr b="0" sz="2600">
              <a:solidFill>
                <a:srgbClr val="18919B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241" name="Google Shape;2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054" y="1706501"/>
            <a:ext cx="5750021" cy="23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/>
          <p:nvPr/>
        </p:nvSpPr>
        <p:spPr>
          <a:xfrm>
            <a:off x="5016750" y="2216888"/>
            <a:ext cx="740700" cy="328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6207250" y="1438213"/>
            <a:ext cx="1847700" cy="328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Hypotheses Root cause 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6207250" y="1888388"/>
            <a:ext cx="1847700" cy="328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Hypotheses Root cause 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207250" y="2338563"/>
            <a:ext cx="1847700" cy="328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Hypotheses Root cause 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207250" y="2788738"/>
            <a:ext cx="1847700" cy="328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Hypotheses Root cause 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" name="Google Shape;247;p8"/>
          <p:cNvCxnSpPr>
            <a:stCxn id="242" idx="3"/>
            <a:endCxn id="243" idx="1"/>
          </p:cNvCxnSpPr>
          <p:nvPr/>
        </p:nvCxnSpPr>
        <p:spPr>
          <a:xfrm flipH="1" rot="10800000">
            <a:off x="5757450" y="1602338"/>
            <a:ext cx="449700" cy="7788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8"/>
          <p:cNvCxnSpPr>
            <a:stCxn id="242" idx="3"/>
            <a:endCxn id="244" idx="1"/>
          </p:cNvCxnSpPr>
          <p:nvPr/>
        </p:nvCxnSpPr>
        <p:spPr>
          <a:xfrm flipH="1" rot="10800000">
            <a:off x="5757450" y="2052638"/>
            <a:ext cx="449700" cy="3285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8"/>
          <p:cNvCxnSpPr>
            <a:stCxn id="242" idx="3"/>
            <a:endCxn id="245" idx="1"/>
          </p:cNvCxnSpPr>
          <p:nvPr/>
        </p:nvCxnSpPr>
        <p:spPr>
          <a:xfrm>
            <a:off x="5757450" y="2381138"/>
            <a:ext cx="449700" cy="1218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8"/>
          <p:cNvCxnSpPr>
            <a:stCxn id="242" idx="3"/>
            <a:endCxn id="246" idx="1"/>
          </p:cNvCxnSpPr>
          <p:nvPr/>
        </p:nvCxnSpPr>
        <p:spPr>
          <a:xfrm>
            <a:off x="5757450" y="2381138"/>
            <a:ext cx="449700" cy="571800"/>
          </a:xfrm>
          <a:prstGeom prst="curved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8"/>
          <p:cNvSpPr txBox="1"/>
          <p:nvPr/>
        </p:nvSpPr>
        <p:spPr>
          <a:xfrm>
            <a:off x="212775" y="812850"/>
            <a:ext cx="3000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Clue: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Why, why, why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b="0" i="0" lang="en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Brainstorm is allowed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9"/>
          <p:cNvGrpSpPr/>
          <p:nvPr/>
        </p:nvGrpSpPr>
        <p:grpSpPr>
          <a:xfrm>
            <a:off x="3854590" y="4740701"/>
            <a:ext cx="1434817" cy="389011"/>
            <a:chOff x="3248325" y="4588800"/>
            <a:chExt cx="2045939" cy="554700"/>
          </a:xfrm>
        </p:grpSpPr>
        <p:sp>
          <p:nvSpPr>
            <p:cNvPr id="257" name="Google Shape;257;p9"/>
            <p:cNvSpPr/>
            <p:nvPr/>
          </p:nvSpPr>
          <p:spPr>
            <a:xfrm>
              <a:off x="3248325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95554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662764" y="4588800"/>
              <a:ext cx="631500" cy="5547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9"/>
          <p:cNvGrpSpPr/>
          <p:nvPr/>
        </p:nvGrpSpPr>
        <p:grpSpPr>
          <a:xfrm>
            <a:off x="8325085" y="65156"/>
            <a:ext cx="763768" cy="752531"/>
            <a:chOff x="695950" y="3458000"/>
            <a:chExt cx="966550" cy="952450"/>
          </a:xfrm>
        </p:grpSpPr>
        <p:sp>
          <p:nvSpPr>
            <p:cNvPr id="261" name="Google Shape;261;p9"/>
            <p:cNvSpPr/>
            <p:nvPr/>
          </p:nvSpPr>
          <p:spPr>
            <a:xfrm>
              <a:off x="69595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1065675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1435400" y="345800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69595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1065675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1435400" y="3820675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69595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1065675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1435400" y="4183350"/>
              <a:ext cx="227100" cy="227100"/>
            </a:xfrm>
            <a:prstGeom prst="ellipse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9"/>
          <p:cNvSpPr/>
          <p:nvPr/>
        </p:nvSpPr>
        <p:spPr>
          <a:xfrm rot="10800000">
            <a:off x="-381375" y="2274300"/>
            <a:ext cx="740700" cy="692700"/>
          </a:xfrm>
          <a:prstGeom prst="pie">
            <a:avLst>
              <a:gd fmla="val 5441529" name="adj1"/>
              <a:gd fmla="val 1620000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212775" y="4649600"/>
            <a:ext cx="143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8919B"/>
                </a:solidFill>
                <a:latin typeface="Caveat"/>
                <a:ea typeface="Caveat"/>
                <a:cs typeface="Caveat"/>
                <a:sym typeface="Caveat"/>
              </a:rPr>
              <a:t>#RintisKarirImpian</a:t>
            </a:r>
            <a:endParaRPr b="1" i="0" sz="1100" u="none" cap="none" strike="noStrike">
              <a:solidFill>
                <a:srgbClr val="18919B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272" name="Google Shape;2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0175" y="4803796"/>
            <a:ext cx="558450" cy="26280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 txBox="1"/>
          <p:nvPr>
            <p:ph idx="4294967295" type="title"/>
          </p:nvPr>
        </p:nvSpPr>
        <p:spPr>
          <a:xfrm>
            <a:off x="348275" y="210200"/>
            <a:ext cx="800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600">
                <a:solidFill>
                  <a:srgbClr val="18919B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5. Develop Countermeasures</a:t>
            </a:r>
            <a:endParaRPr sz="3600">
              <a:solidFill>
                <a:srgbClr val="18919B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pic>
        <p:nvPicPr>
          <p:cNvPr id="274" name="Google Shape;2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400" y="1080988"/>
            <a:ext cx="5879065" cy="2492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