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Caveat"/>
      <p:regular r:id="rId19"/>
      <p:bold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JAfedbA6TaIXUfUExrzwCfaFK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veat-bold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Caveat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2b69517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2b69517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2b695179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2b695179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2b695179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2b695179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2b695179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2b695179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2b695179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52b695179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3038b288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53038b288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spreadsheets/u/0/d/19U8UoWqUd3p9m3qFz-cHFjUzH2-uKm5wMLPZJTfANWQ/ed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hyperlink" Target="http://ungu.in/Dataset-Supesto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4" name="Google Shape;64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d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6" r="0" t="0"/>
            </a:stretch>
          </a:blipFill>
          <a:ln>
            <a:noFill/>
          </a:ln>
        </p:spPr>
      </p:sp>
      <p:sp>
        <p:nvSpPr>
          <p:cNvPr id="68" name="Google Shape;68;p1"/>
          <p:cNvSpPr txBox="1"/>
          <p:nvPr/>
        </p:nvSpPr>
        <p:spPr>
          <a:xfrm>
            <a:off x="3792125" y="1575500"/>
            <a:ext cx="51159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id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Formatting and Validation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d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id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Muhammad Ferdy Fawwaz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d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"/>
          <p:cNvGrpSpPr/>
          <p:nvPr/>
        </p:nvGrpSpPr>
        <p:grpSpPr>
          <a:xfrm>
            <a:off x="3854590" y="4740703"/>
            <a:ext cx="1434817" cy="389011"/>
            <a:chOff x="3248325" y="4588800"/>
            <a:chExt cx="2045939" cy="554700"/>
          </a:xfrm>
        </p:grpSpPr>
        <p:sp>
          <p:nvSpPr>
            <p:cNvPr id="77" name="Google Shape;77;p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2"/>
          <p:cNvGrpSpPr/>
          <p:nvPr/>
        </p:nvGrpSpPr>
        <p:grpSpPr>
          <a:xfrm>
            <a:off x="8325085" y="65154"/>
            <a:ext cx="763768" cy="752531"/>
            <a:chOff x="695950" y="3458000"/>
            <a:chExt cx="966550" cy="952450"/>
          </a:xfrm>
        </p:grpSpPr>
        <p:sp>
          <p:nvSpPr>
            <p:cNvPr id="81" name="Google Shape;81;p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278025" y="454325"/>
            <a:ext cx="8462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d" sz="2800" u="none" cap="none" strike="noStrike">
                <a:solidFill>
                  <a:srgbClr val="17919B"/>
                </a:solidFill>
                <a:latin typeface="Roboto"/>
                <a:ea typeface="Roboto"/>
                <a:cs typeface="Roboto"/>
                <a:sym typeface="Roboto"/>
              </a:rPr>
              <a:t>Petunjuk Pengerjaan</a:t>
            </a:r>
            <a:endParaRPr b="1" i="0" sz="2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212775" y="1001700"/>
            <a:ext cx="8462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Dokumen ini memang tidak open access untuk edit, maka silahkan copy file ini lalu kerjakanlah pada device masing-masing, dengan cara klik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File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pada pojok kiri atas, pilih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Make a Copy</a:t>
            </a:r>
            <a: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Setelah file berhasil di copy, ubah nama sesuai nama masing-masing.</a:t>
            </a: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id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Untuk mengerjakan, perhatikan petunjuk dibawah ini:</a:t>
            </a:r>
            <a:endParaRPr b="1" i="0" sz="1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Jawablah masing-masing pertanyaan di slide selanjutnya berdasarkan pengetahuanmu dan berdasarkan apa yang kamu pahami pada materi tiap sesi.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pengaturan akses file sebagai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Publik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namun cukup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View Only 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agar tugas dapat dicek oleh Class Assistant.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Silahkan kirim link sheet mini task berikut di form pengumpulan mini task yang sudah tersedia di </a:t>
            </a:r>
            <a:r>
              <a:rPr b="1" i="0" lang="id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To Do List bootcamp Data Analysis batch 21.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Upload pekerjaanmu di LinkedIn dan tag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@MySkill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juga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Class Assistant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mendampingi serta </a:t>
            </a:r>
            <a:r>
              <a:rPr b="1" i="0" lang="id" sz="1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Tutor</a:t>
            </a:r>
            <a:r>
              <a:rPr b="0" i="0" lang="id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yang mengajar di sesi kelas. Yang di upload boleh berupa file PPT, maupun screenshot dari file ini.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"/>
          <p:cNvGrpSpPr/>
          <p:nvPr/>
        </p:nvGrpSpPr>
        <p:grpSpPr>
          <a:xfrm>
            <a:off x="3854590" y="4740700"/>
            <a:ext cx="1434817" cy="389011"/>
            <a:chOff x="3248325" y="4588800"/>
            <a:chExt cx="2045939" cy="554700"/>
          </a:xfrm>
        </p:grpSpPr>
        <p:sp>
          <p:nvSpPr>
            <p:cNvPr id="99" name="Google Shape;99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3"/>
          <p:cNvGrpSpPr/>
          <p:nvPr/>
        </p:nvGrpSpPr>
        <p:grpSpPr>
          <a:xfrm>
            <a:off x="8325085" y="65157"/>
            <a:ext cx="763768" cy="752531"/>
            <a:chOff x="695950" y="3458000"/>
            <a:chExt cx="966550" cy="952450"/>
          </a:xfrm>
        </p:grpSpPr>
        <p:sp>
          <p:nvSpPr>
            <p:cNvPr id="103" name="Google Shape;103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 rot="10800000">
            <a:off x="-381375" y="21981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>
            <p:ph type="ctr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Data Formatting and Validation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11700" y="712937"/>
            <a:ext cx="8670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AutoNum type="arabicPeriod"/>
            </a:pPr>
            <a:r>
              <a:rPr b="0" i="0" lang="id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Ubah format data pada kolom diskon menjadi percentage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778150" y="945425"/>
            <a:ext cx="363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pertama, klik huruf G pada kolom diskon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b="2452" l="1532" r="1502" t="5356"/>
          <a:stretch/>
        </p:blipFill>
        <p:spPr>
          <a:xfrm>
            <a:off x="881425" y="1314725"/>
            <a:ext cx="1099050" cy="49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778150" y="1817100"/>
            <a:ext cx="351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kedua, klik Format di atas menu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5">
            <a:alphaModFix/>
          </a:blip>
          <a:srcRect b="46271" l="1603" r="0" t="0"/>
          <a:stretch/>
        </p:blipFill>
        <p:spPr>
          <a:xfrm>
            <a:off x="881425" y="2190750"/>
            <a:ext cx="2092975" cy="18461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2957725" y="2630688"/>
            <a:ext cx="1534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ketiga,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klik Panah Angka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81425" y="2717150"/>
            <a:ext cx="20763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3850" y="307950"/>
            <a:ext cx="1974100" cy="425314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4647900" y="3581363"/>
            <a:ext cx="15345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keempat,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Klik 0% atau Format angka kustom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420875" y="3668250"/>
            <a:ext cx="16815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420875" y="4375475"/>
            <a:ext cx="16815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g352b6951799_0_0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32" name="Google Shape;132;g352b6951799_0_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352b6951799_0_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352b6951799_0_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g352b6951799_0_0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36" name="Google Shape;136;g352b6951799_0_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352b6951799_0_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52b6951799_0_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52b6951799_0_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52b6951799_0_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52b6951799_0_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52b6951799_0_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52b6951799_0_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52b6951799_0_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g352b6951799_0_0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52b6951799_0_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47" name="Google Shape;147;g352b695179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52b6951799_0_0"/>
          <p:cNvSpPr txBox="1"/>
          <p:nvPr>
            <p:ph type="ctr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Data Formatting and Validation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g352b6951799_0_0"/>
          <p:cNvSpPr txBox="1"/>
          <p:nvPr/>
        </p:nvSpPr>
        <p:spPr>
          <a:xfrm>
            <a:off x="311700" y="663712"/>
            <a:ext cx="8670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2.    </a:t>
            </a:r>
            <a:r>
              <a:rPr b="0" i="0" lang="id" sz="13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Ubah format data pada kolom sales dan profit menjadi currency dengan mata uang dollar dan maksimal dua </a:t>
            </a:r>
            <a:endParaRPr b="0" i="0" sz="13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Langkah pertama, klik huruf E dibarengi pencet ctrl di keyboard lanjut klik huruf H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g352b6951799_0_0"/>
          <p:cNvSpPr txBox="1"/>
          <p:nvPr/>
        </p:nvSpPr>
        <p:spPr>
          <a:xfrm>
            <a:off x="608425" y="1822025"/>
            <a:ext cx="296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kedua, klik Format di atas menu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1" name="Google Shape;151;g352b6951799_0_0"/>
          <p:cNvPicPr preferRelativeResize="0"/>
          <p:nvPr/>
        </p:nvPicPr>
        <p:blipFill rotWithShape="1">
          <a:blip r:embed="rId4">
            <a:alphaModFix/>
          </a:blip>
          <a:srcRect b="46271" l="1603" r="0" t="0"/>
          <a:stretch/>
        </p:blipFill>
        <p:spPr>
          <a:xfrm>
            <a:off x="684625" y="2190775"/>
            <a:ext cx="2092975" cy="18461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52b6951799_0_0"/>
          <p:cNvSpPr txBox="1"/>
          <p:nvPr/>
        </p:nvSpPr>
        <p:spPr>
          <a:xfrm>
            <a:off x="2957725" y="2630688"/>
            <a:ext cx="1534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ketiga,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klik Panah Angka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g352b6951799_0_0"/>
          <p:cNvSpPr/>
          <p:nvPr/>
        </p:nvSpPr>
        <p:spPr>
          <a:xfrm>
            <a:off x="881425" y="2717150"/>
            <a:ext cx="20763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52b6951799_0_0"/>
          <p:cNvSpPr txBox="1"/>
          <p:nvPr/>
        </p:nvSpPr>
        <p:spPr>
          <a:xfrm>
            <a:off x="4702000" y="3304838"/>
            <a:ext cx="15345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keempat,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klik Dolar AS atau angka Mata uang khusus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g352b6951799_0_0" title="Screenshot 2025-05-01 1434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625" y="1273075"/>
            <a:ext cx="43624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52b6951799_0_0"/>
          <p:cNvPicPr preferRelativeResize="0"/>
          <p:nvPr/>
        </p:nvPicPr>
        <p:blipFill rotWithShape="1">
          <a:blip r:embed="rId6">
            <a:alphaModFix/>
          </a:blip>
          <a:srcRect b="8810" l="0" r="0" t="27850"/>
          <a:stretch/>
        </p:blipFill>
        <p:spPr>
          <a:xfrm>
            <a:off x="6329950" y="1550875"/>
            <a:ext cx="1974100" cy="269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52b6951799_0_0"/>
          <p:cNvSpPr/>
          <p:nvPr/>
        </p:nvSpPr>
        <p:spPr>
          <a:xfrm>
            <a:off x="6514525" y="3538300"/>
            <a:ext cx="16815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52b6951799_0_0"/>
          <p:cNvSpPr/>
          <p:nvPr/>
        </p:nvSpPr>
        <p:spPr>
          <a:xfrm>
            <a:off x="6514525" y="4038150"/>
            <a:ext cx="16815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g352b6951799_0_50"/>
          <p:cNvGrpSpPr/>
          <p:nvPr/>
        </p:nvGrpSpPr>
        <p:grpSpPr>
          <a:xfrm>
            <a:off x="3622915" y="4742538"/>
            <a:ext cx="1434817" cy="389011"/>
            <a:chOff x="3248325" y="4588800"/>
            <a:chExt cx="2045939" cy="554700"/>
          </a:xfrm>
        </p:grpSpPr>
        <p:sp>
          <p:nvSpPr>
            <p:cNvPr id="164" name="Google Shape;164;g352b6951799_0_5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g352b6951799_0_5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52b6951799_0_5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g352b6951799_0_50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68" name="Google Shape;168;g352b6951799_0_5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52b6951799_0_5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52b6951799_0_5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52b6951799_0_5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g352b6951799_0_5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52b6951799_0_5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g352b6951799_0_5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352b6951799_0_5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52b6951799_0_5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g352b6951799_0_50"/>
          <p:cNvSpPr/>
          <p:nvPr/>
        </p:nvSpPr>
        <p:spPr>
          <a:xfrm rot="10800000">
            <a:off x="-381375" y="19695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52b6951799_0_5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9" name="Google Shape;179;g352b6951799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52b6951799_0_50"/>
          <p:cNvSpPr txBox="1"/>
          <p:nvPr>
            <p:ph type="ctr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Data Formatting and Validation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52b6951799_0_50"/>
          <p:cNvSpPr txBox="1"/>
          <p:nvPr/>
        </p:nvSpPr>
        <p:spPr>
          <a:xfrm>
            <a:off x="212775" y="616487"/>
            <a:ext cx="8670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3.    </a:t>
            </a: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Pada kolom profit, tandai profit yang negatif dengan warna merah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Langkah pertama, klik huruf H untuk blok kolom profit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82;g352b6951799_0_50" title="Screenshot 2025-05-01 143412.png"/>
          <p:cNvPicPr preferRelativeResize="0"/>
          <p:nvPr/>
        </p:nvPicPr>
        <p:blipFill rotWithShape="1">
          <a:blip r:embed="rId4">
            <a:alphaModFix/>
          </a:blip>
          <a:srcRect b="0" l="74610" r="0" t="0"/>
          <a:stretch/>
        </p:blipFill>
        <p:spPr>
          <a:xfrm>
            <a:off x="578175" y="1155000"/>
            <a:ext cx="11076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52b6951799_0_50"/>
          <p:cNvSpPr txBox="1"/>
          <p:nvPr/>
        </p:nvSpPr>
        <p:spPr>
          <a:xfrm>
            <a:off x="507325" y="1759050"/>
            <a:ext cx="296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kedua, klik Format di atas menu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g352b6951799_0_50"/>
          <p:cNvPicPr preferRelativeResize="0"/>
          <p:nvPr/>
        </p:nvPicPr>
        <p:blipFill rotWithShape="1">
          <a:blip r:embed="rId5">
            <a:alphaModFix/>
          </a:blip>
          <a:srcRect b="92351" l="-867" r="0" t="0"/>
          <a:stretch/>
        </p:blipFill>
        <p:spPr>
          <a:xfrm>
            <a:off x="578175" y="2071825"/>
            <a:ext cx="2145575" cy="262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52b6951799_0_50"/>
          <p:cNvSpPr txBox="1"/>
          <p:nvPr/>
        </p:nvSpPr>
        <p:spPr>
          <a:xfrm>
            <a:off x="507325" y="2554250"/>
            <a:ext cx="27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ketiga, Klik Format bersyarat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g352b6951799_0_50"/>
          <p:cNvPicPr preferRelativeResize="0"/>
          <p:nvPr/>
        </p:nvPicPr>
        <p:blipFill rotWithShape="1">
          <a:blip r:embed="rId5">
            <a:alphaModFix/>
          </a:blip>
          <a:srcRect b="0" l="1603" r="0" t="70331"/>
          <a:stretch/>
        </p:blipFill>
        <p:spPr>
          <a:xfrm>
            <a:off x="604475" y="2879288"/>
            <a:ext cx="2092975" cy="101937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52b6951799_0_50"/>
          <p:cNvSpPr/>
          <p:nvPr/>
        </p:nvSpPr>
        <p:spPr>
          <a:xfrm>
            <a:off x="578175" y="3143175"/>
            <a:ext cx="20763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52b6951799_0_50"/>
          <p:cNvSpPr txBox="1"/>
          <p:nvPr/>
        </p:nvSpPr>
        <p:spPr>
          <a:xfrm>
            <a:off x="4213300" y="1092325"/>
            <a:ext cx="47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keempat, d</a:t>
            </a: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 panel kanan muncul, klik tambahkan aturan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9" name="Google Shape;189;g352b6951799_0_50" title="Screenshot 2025-05-01 15035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6750" y="1421513"/>
            <a:ext cx="1904300" cy="119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52b6951799_0_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06751" y="3101512"/>
            <a:ext cx="1315075" cy="20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52b6951799_0_50"/>
          <p:cNvSpPr txBox="1"/>
          <p:nvPr/>
        </p:nvSpPr>
        <p:spPr>
          <a:xfrm>
            <a:off x="4260850" y="2615488"/>
            <a:ext cx="4822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Langkah kelima, p</a:t>
            </a:r>
            <a:r>
              <a:rPr lang="id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ilih bagian Format sel jika (Kurang dari), masukkan nilai 0, pilih warna merah untuk teks atau latar belakang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g352b6951799_0_72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97" name="Google Shape;197;g352b6951799_0_72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352b6951799_0_72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52b6951799_0_72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g352b6951799_0_72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01" name="Google Shape;201;g352b6951799_0_72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g352b6951799_0_72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52b6951799_0_72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52b6951799_0_72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g352b6951799_0_72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g352b6951799_0_72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52b6951799_0_72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g352b6951799_0_72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52b6951799_0_72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g352b6951799_0_72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52b6951799_0_72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12" name="Google Shape;212;g352b6951799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52b6951799_0_72"/>
          <p:cNvSpPr txBox="1"/>
          <p:nvPr>
            <p:ph type="ctr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Data Formatting and Validation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g352b6951799_0_72"/>
          <p:cNvSpPr txBox="1"/>
          <p:nvPr/>
        </p:nvSpPr>
        <p:spPr>
          <a:xfrm>
            <a:off x="264100" y="601075"/>
            <a:ext cx="9116100" cy="21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4.   </a:t>
            </a: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Ubah data pada kolom Ship_Mode sampai Region dengan Proper Case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id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Langkah </a:t>
            </a: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pengerjaan:</a:t>
            </a: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masukkan rumus di kolom baru dari kolom U - X,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untuk mengubah isi dari kolom N (ship_mode) - T (region):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ship_mode	            =ARRAYFORMULA(IF(N2:N="", "", PROPER(N2:N)))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customer_name	=ARRAYFORMULA(IF(O2:O="", "", PROPER(O2:O)))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segment	                        =ARRAYFORMULA(IF(P2:P="", "", PROPER(P2:P)))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region	                        =ARRAYFORMULA(IF(T2:T="", "", PROPER(T2:T)))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g352b6951799_0_127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220" name="Google Shape;220;g352b6951799_0_127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52b6951799_0_127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g352b6951799_0_127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g352b6951799_0_127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24" name="Google Shape;224;g352b6951799_0_127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352b6951799_0_127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52b6951799_0_127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52b6951799_0_127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g352b6951799_0_127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52b6951799_0_127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352b6951799_0_127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52b6951799_0_127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52b6951799_0_127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3" name="Google Shape;233;g352b6951799_0_127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52b6951799_0_127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35" name="Google Shape;235;g352b6951799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52b6951799_0_127"/>
          <p:cNvSpPr txBox="1"/>
          <p:nvPr>
            <p:ph type="ctr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Data Formatting and Validation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352b6951799_0_127"/>
          <p:cNvSpPr txBox="1"/>
          <p:nvPr/>
        </p:nvSpPr>
        <p:spPr>
          <a:xfrm>
            <a:off x="212775" y="647700"/>
            <a:ext cx="88323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5.    </a:t>
            </a: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Periksa apakah data superstore memiliki transaksi duplikat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Langkah pertama, Blok semua kolom Huruf yang berisi data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       Langkah kedua, </a:t>
            </a:r>
            <a:r>
              <a:rPr lang="id" sz="1100">
                <a:solidFill>
                  <a:schemeClr val="dk1"/>
                </a:solidFill>
              </a:rPr>
              <a:t>Klik menu </a:t>
            </a:r>
            <a:r>
              <a:rPr b="1" lang="id" sz="1100">
                <a:solidFill>
                  <a:schemeClr val="dk1"/>
                </a:solidFill>
              </a:rPr>
              <a:t>Data</a:t>
            </a:r>
            <a:r>
              <a:rPr lang="id" sz="1100">
                <a:solidFill>
                  <a:schemeClr val="dk1"/>
                </a:solidFill>
              </a:rPr>
              <a:t> →</a:t>
            </a:r>
            <a:r>
              <a:rPr lang="id" sz="1100">
                <a:solidFill>
                  <a:schemeClr val="dk1"/>
                </a:solidFill>
              </a:rPr>
              <a:t> pilih </a:t>
            </a:r>
            <a:r>
              <a:rPr b="1" lang="id" sz="1100">
                <a:solidFill>
                  <a:schemeClr val="dk1"/>
                </a:solidFill>
              </a:rPr>
              <a:t>Pembersih Data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8" name="Google Shape;238;g352b6951799_0_127" title="Screenshot 2025-05-01 134732.png"/>
          <p:cNvPicPr preferRelativeResize="0"/>
          <p:nvPr/>
        </p:nvPicPr>
        <p:blipFill rotWithShape="1">
          <a:blip r:embed="rId4">
            <a:alphaModFix/>
          </a:blip>
          <a:srcRect b="767" l="2546" r="4169" t="3253"/>
          <a:stretch/>
        </p:blipFill>
        <p:spPr>
          <a:xfrm>
            <a:off x="6142050" y="1540850"/>
            <a:ext cx="1858475" cy="29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52b6951799_0_127" title="Screenshot 2025-05-01 1702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603" y="1667925"/>
            <a:ext cx="1776898" cy="279169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52b6951799_0_127"/>
          <p:cNvSpPr/>
          <p:nvPr/>
        </p:nvSpPr>
        <p:spPr>
          <a:xfrm>
            <a:off x="624600" y="3733575"/>
            <a:ext cx="20763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g352b6951799_0_127"/>
          <p:cNvPicPr preferRelativeResize="0"/>
          <p:nvPr/>
        </p:nvPicPr>
        <p:blipFill rotWithShape="1">
          <a:blip r:embed="rId6">
            <a:alphaModFix/>
          </a:blip>
          <a:srcRect b="0" l="58687" r="0" t="0"/>
          <a:stretch/>
        </p:blipFill>
        <p:spPr>
          <a:xfrm>
            <a:off x="2831575" y="3289775"/>
            <a:ext cx="28804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52b6951799_0_127"/>
          <p:cNvSpPr/>
          <p:nvPr/>
        </p:nvSpPr>
        <p:spPr>
          <a:xfrm>
            <a:off x="6531100" y="4129625"/>
            <a:ext cx="13443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52b6951799_0_127"/>
          <p:cNvSpPr txBox="1"/>
          <p:nvPr/>
        </p:nvSpPr>
        <p:spPr>
          <a:xfrm>
            <a:off x="2720950" y="2875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Langkah ketiga, </a:t>
            </a:r>
            <a:r>
              <a:rPr lang="id" sz="1100">
                <a:solidFill>
                  <a:schemeClr val="dk1"/>
                </a:solidFill>
              </a:rPr>
              <a:t>Klik Hapus duplikat</a:t>
            </a:r>
            <a:endParaRPr/>
          </a:p>
        </p:txBody>
      </p:sp>
      <p:sp>
        <p:nvSpPr>
          <p:cNvPr id="244" name="Google Shape;244;g352b6951799_0_127"/>
          <p:cNvSpPr txBox="1"/>
          <p:nvPr/>
        </p:nvSpPr>
        <p:spPr>
          <a:xfrm>
            <a:off x="6088850" y="1062438"/>
            <a:ext cx="3000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Langkah keempat, </a:t>
            </a:r>
            <a:r>
              <a:rPr lang="id" sz="1100">
                <a:solidFill>
                  <a:schemeClr val="dk1"/>
                </a:solidFill>
              </a:rPr>
              <a:t>klik </a:t>
            </a:r>
            <a:r>
              <a:rPr b="1" lang="id" sz="1100">
                <a:solidFill>
                  <a:schemeClr val="dk1"/>
                </a:solidFill>
              </a:rPr>
              <a:t>Pilih Semua </a:t>
            </a:r>
            <a:r>
              <a:rPr lang="id" sz="1100">
                <a:solidFill>
                  <a:schemeClr val="dk1"/>
                </a:solidFill>
              </a:rPr>
              <a:t>lalu klik</a:t>
            </a:r>
            <a:r>
              <a:rPr b="1" lang="id" sz="1100">
                <a:solidFill>
                  <a:schemeClr val="dk1"/>
                </a:solidFill>
              </a:rPr>
              <a:t> Hapus Duplikat</a:t>
            </a:r>
            <a:endParaRPr b="1"/>
          </a:p>
        </p:txBody>
      </p:sp>
      <p:sp>
        <p:nvSpPr>
          <p:cNvPr id="245" name="Google Shape;245;g352b6951799_0_127"/>
          <p:cNvSpPr/>
          <p:nvPr/>
        </p:nvSpPr>
        <p:spPr>
          <a:xfrm>
            <a:off x="6237450" y="2443375"/>
            <a:ext cx="13443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g352b6951799_0_170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251" name="Google Shape;251;g352b6951799_0_170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g352b6951799_0_170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g352b6951799_0_170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g352b6951799_0_170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55" name="Google Shape;255;g352b6951799_0_170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g352b6951799_0_170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352b6951799_0_170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g352b6951799_0_170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352b6951799_0_170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g352b6951799_0_170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352b6951799_0_170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g352b6951799_0_170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352b6951799_0_170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g352b6951799_0_170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52b6951799_0_170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66" name="Google Shape;266;g352b6951799_0_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52b6951799_0_170"/>
          <p:cNvSpPr txBox="1"/>
          <p:nvPr>
            <p:ph type="ctr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Data Formatting and Validation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g352b6951799_0_170"/>
          <p:cNvSpPr txBox="1"/>
          <p:nvPr/>
        </p:nvSpPr>
        <p:spPr>
          <a:xfrm>
            <a:off x="256550" y="636725"/>
            <a:ext cx="88323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7. </a:t>
            </a:r>
            <a:r>
              <a:rPr lang="id" sz="13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Pada bagian Segment terapkan data validation sehingga data yang masuk adalah satu dari pilihan berikut: Corporate, Consumer, Home Office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100">
                <a:solidFill>
                  <a:schemeClr val="dk1"/>
                </a:solidFill>
              </a:rPr>
              <a:t>Langkah pertama,</a:t>
            </a:r>
            <a:r>
              <a:rPr b="1" lang="id" sz="1100">
                <a:solidFill>
                  <a:schemeClr val="dk1"/>
                </a:solidFill>
              </a:rPr>
              <a:t> Blok kolom Segment </a:t>
            </a:r>
            <a:r>
              <a:rPr lang="id" sz="1100">
                <a:solidFill>
                  <a:schemeClr val="dk1"/>
                </a:solidFill>
              </a:rPr>
              <a:t>→ Klik huruf </a:t>
            </a:r>
            <a:r>
              <a:rPr b="1" lang="id" sz="1100">
                <a:solidFill>
                  <a:schemeClr val="dk1"/>
                </a:solidFill>
              </a:rPr>
              <a:t>P</a:t>
            </a:r>
            <a:r>
              <a:rPr lang="id" sz="1100">
                <a:solidFill>
                  <a:schemeClr val="dk1"/>
                </a:solidFill>
              </a:rPr>
              <a:t> (karena kolom Segment ada di P)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100">
                <a:solidFill>
                  <a:schemeClr val="dk1"/>
                </a:solidFill>
              </a:rPr>
              <a:t>Langkah kedua, klik menu </a:t>
            </a:r>
            <a:r>
              <a:rPr b="1" lang="id" sz="1100">
                <a:solidFill>
                  <a:schemeClr val="dk1"/>
                </a:solidFill>
              </a:rPr>
              <a:t>Data</a:t>
            </a:r>
            <a:r>
              <a:rPr lang="id" sz="1100">
                <a:solidFill>
                  <a:schemeClr val="dk1"/>
                </a:solidFill>
              </a:rPr>
              <a:t> di bagian atas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1100">
                <a:solidFill>
                  <a:schemeClr val="dk1"/>
                </a:solidFill>
              </a:rPr>
              <a:t>Langkah ketiga pilih opsi </a:t>
            </a:r>
            <a:r>
              <a:rPr b="1" lang="id" sz="1100">
                <a:solidFill>
                  <a:schemeClr val="dk1"/>
                </a:solidFill>
              </a:rPr>
              <a:t>Validasi data</a:t>
            </a:r>
            <a:r>
              <a:rPr lang="id" sz="1100">
                <a:solidFill>
                  <a:schemeClr val="dk1"/>
                </a:solidFill>
              </a:rPr>
              <a:t> atau dalam bahasa Inggris </a:t>
            </a:r>
            <a:r>
              <a:rPr b="1" lang="id" sz="1100">
                <a:solidFill>
                  <a:schemeClr val="dk1"/>
                </a:solidFill>
              </a:rPr>
              <a:t>Data validation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9" name="Google Shape;269;g352b6951799_0_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325" y="2060525"/>
            <a:ext cx="2308451" cy="102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52b6951799_0_170"/>
          <p:cNvSpPr/>
          <p:nvPr/>
        </p:nvSpPr>
        <p:spPr>
          <a:xfrm>
            <a:off x="407650" y="2296025"/>
            <a:ext cx="20763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g352b6951799_0_1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653" y="3386724"/>
            <a:ext cx="1993600" cy="141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52b6951799_0_170"/>
          <p:cNvSpPr txBox="1"/>
          <p:nvPr/>
        </p:nvSpPr>
        <p:spPr>
          <a:xfrm>
            <a:off x="311700" y="3082975"/>
            <a:ext cx="262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</a:rPr>
              <a:t>Langkah k</a:t>
            </a:r>
            <a:r>
              <a:rPr lang="id" sz="1100">
                <a:solidFill>
                  <a:schemeClr val="dk1"/>
                </a:solidFill>
              </a:rPr>
              <a:t>eempat, </a:t>
            </a:r>
            <a:r>
              <a:rPr b="1" lang="id" sz="1100">
                <a:solidFill>
                  <a:schemeClr val="dk1"/>
                </a:solidFill>
              </a:rPr>
              <a:t>Tambahkan Aturan</a:t>
            </a:r>
            <a:endParaRPr b="1"/>
          </a:p>
        </p:txBody>
      </p:sp>
      <p:sp>
        <p:nvSpPr>
          <p:cNvPr id="273" name="Google Shape;273;g352b6951799_0_170"/>
          <p:cNvSpPr/>
          <p:nvPr/>
        </p:nvSpPr>
        <p:spPr>
          <a:xfrm>
            <a:off x="1112025" y="4332725"/>
            <a:ext cx="1104300" cy="20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g352b6951799_0_1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7177" y="2296013"/>
            <a:ext cx="1749638" cy="254267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52b6951799_0_170"/>
          <p:cNvSpPr txBox="1"/>
          <p:nvPr/>
        </p:nvSpPr>
        <p:spPr>
          <a:xfrm>
            <a:off x="3638500" y="2003525"/>
            <a:ext cx="311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</a:rPr>
              <a:t>Langkah kelima, atur validasi sesuai kebutuhan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g353038b2882_0_8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281" name="Google Shape;281;g353038b2882_0_8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53038b2882_0_8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53038b2882_0_8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g353038b2882_0_8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85" name="Google Shape;285;g353038b2882_0_8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53038b2882_0_8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g353038b2882_0_8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53038b2882_0_8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353038b2882_0_8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g353038b2882_0_8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53038b2882_0_8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53038b2882_0_8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53038b2882_0_8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g353038b2882_0_8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53038b2882_0_8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96" name="Google Shape;296;g353038b2882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53038b2882_0_8"/>
          <p:cNvSpPr txBox="1"/>
          <p:nvPr>
            <p:ph type="ctr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Data Formatting and Validation</a:t>
            </a:r>
            <a:endParaRPr b="1"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g353038b2882_0_8"/>
          <p:cNvSpPr txBox="1"/>
          <p:nvPr>
            <p:ph type="ctrTitle"/>
          </p:nvPr>
        </p:nvSpPr>
        <p:spPr>
          <a:xfrm>
            <a:off x="2699100" y="2285400"/>
            <a:ext cx="3745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Berikut link dataset spreadsheets:</a:t>
            </a:r>
            <a:br>
              <a:rPr lang="id" sz="1820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id" sz="182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ungu.in/Dataset-Supestore</a:t>
            </a:r>
            <a:endParaRPr sz="1820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