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Roboto"/>
      <p:regular r:id="rId12"/>
      <p:bold r:id="rId13"/>
      <p:italic r:id="rId14"/>
      <p:boldItalic r:id="rId15"/>
    </p:embeddedFont>
    <p:embeddedFont>
      <p:font typeface="Caveat"/>
      <p:regular r:id="rId16"/>
      <p:bold r:id="rId17"/>
    </p:embeddedFont>
    <p:embeddedFont>
      <p:font typeface="Open Sans"/>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2" roundtripDataSignature="AMtx7mg2DLoJlpieC+nRLxT//7zOI3PUg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penSans-italic.fntdata"/><Relationship Id="rId11" Type="http://schemas.openxmlformats.org/officeDocument/2006/relationships/slide" Target="slides/slide6.xml"/><Relationship Id="rId22" Type="http://customschemas.google.com/relationships/presentationmetadata" Target="metadata"/><Relationship Id="rId10" Type="http://schemas.openxmlformats.org/officeDocument/2006/relationships/slide" Target="slides/slide5.xml"/><Relationship Id="rId21" Type="http://schemas.openxmlformats.org/officeDocument/2006/relationships/font" Target="fonts/OpenSans-boldItalic.fntdata"/><Relationship Id="rId13" Type="http://schemas.openxmlformats.org/officeDocument/2006/relationships/font" Target="fonts/Roboto-bold.fntdata"/><Relationship Id="rId12" Type="http://schemas.openxmlformats.org/officeDocument/2006/relationships/font" Target="fonts/Robo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boldItalic.fntdata"/><Relationship Id="rId14" Type="http://schemas.openxmlformats.org/officeDocument/2006/relationships/font" Target="fonts/Roboto-italic.fntdata"/><Relationship Id="rId17" Type="http://schemas.openxmlformats.org/officeDocument/2006/relationships/font" Target="fonts/Caveat-bold.fntdata"/><Relationship Id="rId16" Type="http://schemas.openxmlformats.org/officeDocument/2006/relationships/font" Target="fonts/Caveat-regular.fntdata"/><Relationship Id="rId5" Type="http://schemas.openxmlformats.org/officeDocument/2006/relationships/notesMaster" Target="notesMasters/notesMaster1.xml"/><Relationship Id="rId19" Type="http://schemas.openxmlformats.org/officeDocument/2006/relationships/font" Target="fonts/OpenSans-bold.fntdata"/><Relationship Id="rId6" Type="http://schemas.openxmlformats.org/officeDocument/2006/relationships/slide" Target="slides/slide1.xml"/><Relationship Id="rId18" Type="http://schemas.openxmlformats.org/officeDocument/2006/relationships/font" Target="fonts/OpenSans-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 name="Google Shape;59;p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2:notes"/>
          <p:cNvSpPr txBox="1"/>
          <p:nvPr>
            <p:ph idx="1" type="body"/>
          </p:nvPr>
        </p:nvSpPr>
        <p:spPr>
          <a:xfrm>
            <a:off x="685800" y="4343378"/>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4" name="Google Shape;74;p2:notes"/>
          <p:cNvSpPr/>
          <p:nvPr>
            <p:ph idx="2" type="sldImg"/>
          </p:nvPr>
        </p:nvSpPr>
        <p:spPr>
          <a:xfrm>
            <a:off x="1143225" y="685778"/>
            <a:ext cx="4572300" cy="34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f72dca9db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f72dca9db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f72dca9dbe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f72dca9dbe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72dca9dbe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72dca9dbe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6"/>
          <p:cNvSpPr txBox="1"/>
          <p:nvPr>
            <p:ph type="title"/>
          </p:nvPr>
        </p:nvSpPr>
        <p:spPr>
          <a:xfrm>
            <a:off x="438150" y="1609089"/>
            <a:ext cx="8267700" cy="1977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2800"/>
              <a:buNone/>
              <a:defRPr b="1" i="0" sz="6400">
                <a:solidFill>
                  <a:schemeClr val="lt1"/>
                </a:solidFill>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 name="Google Shape;13;p6"/>
          <p:cNvSpPr txBox="1"/>
          <p:nvPr>
            <p:ph idx="1" type="body"/>
          </p:nvPr>
        </p:nvSpPr>
        <p:spPr>
          <a:xfrm>
            <a:off x="388937" y="1603438"/>
            <a:ext cx="8366100" cy="1763400"/>
          </a:xfrm>
          <a:prstGeom prst="rect">
            <a:avLst/>
          </a:prstGeom>
          <a:noFill/>
          <a:ln>
            <a:noFill/>
          </a:ln>
        </p:spPr>
        <p:txBody>
          <a:bodyPr anchorCtr="0" anchor="t" bIns="0" lIns="0" spcFirstLastPara="1" rIns="0" wrap="square" tIns="0">
            <a:spAutoFit/>
          </a:bodyPr>
          <a:lstStyle>
            <a:lvl1pPr indent="-228600" lvl="0" marL="457200" algn="l">
              <a:lnSpc>
                <a:spcPct val="115000"/>
              </a:lnSpc>
              <a:spcBef>
                <a:spcPts val="0"/>
              </a:spcBef>
              <a:spcAft>
                <a:spcPts val="0"/>
              </a:spcAft>
              <a:buSzPts val="1800"/>
              <a:buNone/>
              <a:defRPr b="1" i="0" sz="5700">
                <a:solidFill>
                  <a:schemeClr val="lt1"/>
                </a:solidFill>
                <a:latin typeface="Roboto"/>
                <a:ea typeface="Roboto"/>
                <a:cs typeface="Roboto"/>
                <a:sym typeface="Roboto"/>
              </a:defRPr>
            </a:lvl1pPr>
            <a:lvl2pPr indent="-228600" lvl="1" marL="914400" algn="l">
              <a:lnSpc>
                <a:spcPct val="115000"/>
              </a:lnSpc>
              <a:spcBef>
                <a:spcPts val="1200"/>
              </a:spcBef>
              <a:spcAft>
                <a:spcPts val="0"/>
              </a:spcAft>
              <a:buSzPts val="1400"/>
              <a:buNone/>
              <a:defRPr/>
            </a:lvl2pPr>
            <a:lvl3pPr indent="-228600" lvl="2" marL="1371600" algn="l">
              <a:lnSpc>
                <a:spcPct val="115000"/>
              </a:lnSpc>
              <a:spcBef>
                <a:spcPts val="1200"/>
              </a:spcBef>
              <a:spcAft>
                <a:spcPts val="0"/>
              </a:spcAft>
              <a:buSzPts val="1400"/>
              <a:buNone/>
              <a:defRPr/>
            </a:lvl3pPr>
            <a:lvl4pPr indent="-228600" lvl="3" marL="1828800" algn="l">
              <a:lnSpc>
                <a:spcPct val="115000"/>
              </a:lnSpc>
              <a:spcBef>
                <a:spcPts val="1200"/>
              </a:spcBef>
              <a:spcAft>
                <a:spcPts val="0"/>
              </a:spcAft>
              <a:buSzPts val="1400"/>
              <a:buNone/>
              <a:defRPr/>
            </a:lvl4pPr>
            <a:lvl5pPr indent="-228600" lvl="4" marL="2286000" algn="l">
              <a:lnSpc>
                <a:spcPct val="115000"/>
              </a:lnSpc>
              <a:spcBef>
                <a:spcPts val="1200"/>
              </a:spcBef>
              <a:spcAft>
                <a:spcPts val="0"/>
              </a:spcAft>
              <a:buSzPts val="1400"/>
              <a:buNone/>
              <a:defRPr/>
            </a:lvl5pPr>
            <a:lvl6pPr indent="-228600" lvl="5" marL="2743200" algn="l">
              <a:lnSpc>
                <a:spcPct val="115000"/>
              </a:lnSpc>
              <a:spcBef>
                <a:spcPts val="1200"/>
              </a:spcBef>
              <a:spcAft>
                <a:spcPts val="0"/>
              </a:spcAft>
              <a:buSzPts val="1400"/>
              <a:buNone/>
              <a:defRPr/>
            </a:lvl6pPr>
            <a:lvl7pPr indent="-228600" lvl="6" marL="3200400" algn="l">
              <a:lnSpc>
                <a:spcPct val="115000"/>
              </a:lnSpc>
              <a:spcBef>
                <a:spcPts val="1200"/>
              </a:spcBef>
              <a:spcAft>
                <a:spcPts val="0"/>
              </a:spcAft>
              <a:buSzPts val="1400"/>
              <a:buNone/>
              <a:defRPr/>
            </a:lvl7pPr>
            <a:lvl8pPr indent="-228600" lvl="7" marL="3657600" algn="l">
              <a:lnSpc>
                <a:spcPct val="115000"/>
              </a:lnSpc>
              <a:spcBef>
                <a:spcPts val="1200"/>
              </a:spcBef>
              <a:spcAft>
                <a:spcPts val="0"/>
              </a:spcAft>
              <a:buSzPts val="1400"/>
              <a:buNone/>
              <a:defRPr/>
            </a:lvl8pPr>
            <a:lvl9pPr indent="-228600" lvl="8" marL="4114800" algn="l">
              <a:lnSpc>
                <a:spcPct val="115000"/>
              </a:lnSpc>
              <a:spcBef>
                <a:spcPts val="1200"/>
              </a:spcBef>
              <a:spcAft>
                <a:spcPts val="1200"/>
              </a:spcAft>
              <a:buSzPts val="1400"/>
              <a:buNone/>
              <a:defRPr/>
            </a:lvl9pPr>
          </a:lstStyle>
          <a:p/>
        </p:txBody>
      </p:sp>
      <p:sp>
        <p:nvSpPr>
          <p:cNvPr id="14" name="Google Shape;14;p6"/>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5" name="Google Shape;15;p6"/>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6" name="Google Shape;16;p6"/>
          <p:cNvSpPr txBox="1"/>
          <p:nvPr>
            <p:ph idx="12" type="sldNum"/>
          </p:nvPr>
        </p:nvSpPr>
        <p:spPr>
          <a:xfrm>
            <a:off x="6583680" y="4783455"/>
            <a:ext cx="2103000" cy="153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solidFill>
                <a:schemeClr val="dk2"/>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9" name="Google Shape;19;p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0" name="Google Shape;20;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3" name="Google Shape;23;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4" name="Shape 24"/>
        <p:cNvGrpSpPr/>
        <p:nvPr/>
      </p:nvGrpSpPr>
      <p:grpSpPr>
        <a:xfrm>
          <a:off x="0" y="0"/>
          <a:ext cx="0" cy="0"/>
          <a:chOff x="0" y="0"/>
          <a:chExt cx="0" cy="0"/>
        </a:xfrm>
      </p:grpSpPr>
      <p:sp>
        <p:nvSpPr>
          <p:cNvPr id="25" name="Google Shape;25;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6" name="Google Shape;26;p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7" name="Google Shape;27;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sp>
        <p:nvSpPr>
          <p:cNvPr id="29" name="Google Shape;29;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1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1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2" name="Google Shape;32;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5" name="Google Shape;35;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1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8" name="Google Shape;38;p1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9" name="Google Shape;3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0" name="Shape 40"/>
        <p:cNvGrpSpPr/>
        <p:nvPr/>
      </p:nvGrpSpPr>
      <p:grpSpPr>
        <a:xfrm>
          <a:off x="0" y="0"/>
          <a:ext cx="0" cy="0"/>
          <a:chOff x="0" y="0"/>
          <a:chExt cx="0" cy="0"/>
        </a:xfrm>
      </p:grpSpPr>
      <p:sp>
        <p:nvSpPr>
          <p:cNvPr id="41" name="Google Shape;41;p1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2" name="Google Shape;42;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3" name="Shape 43"/>
        <p:cNvGrpSpPr/>
        <p:nvPr/>
      </p:nvGrpSpPr>
      <p:grpSpPr>
        <a:xfrm>
          <a:off x="0" y="0"/>
          <a:ext cx="0" cy="0"/>
          <a:chOff x="0" y="0"/>
          <a:chExt cx="0" cy="0"/>
        </a:xfrm>
      </p:grpSpPr>
      <p:sp>
        <p:nvSpPr>
          <p:cNvPr id="44" name="Google Shape;44;p1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1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6" name="Google Shape;46;p1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7" name="Google Shape;47;p1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8" name="Google Shape;48;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51" name="Google Shape;51;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1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4" name="Google Shape;54;p1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5" name="Google Shape;55;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56" name="Shape 5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d"/>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5.jpg"/><Relationship Id="rId6"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hyperlink" Target="https://docs.google.com/spreadsheets/u/0/d/19U8UoWqUd3p9m3qFz-cHFjUzH2-uKm5wMLPZJTfANWQ/edi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B0A6"/>
        </a:solidFill>
      </p:bgPr>
    </p:bg>
    <p:spTree>
      <p:nvGrpSpPr>
        <p:cNvPr id="60" name="Shape 60"/>
        <p:cNvGrpSpPr/>
        <p:nvPr/>
      </p:nvGrpSpPr>
      <p:grpSpPr>
        <a:xfrm>
          <a:off x="0" y="0"/>
          <a:ext cx="0" cy="0"/>
          <a:chOff x="0" y="0"/>
          <a:chExt cx="0" cy="0"/>
        </a:xfrm>
      </p:grpSpPr>
      <p:sp>
        <p:nvSpPr>
          <p:cNvPr id="61" name="Google Shape;61;p1"/>
          <p:cNvSpPr/>
          <p:nvPr/>
        </p:nvSpPr>
        <p:spPr>
          <a:xfrm>
            <a:off x="2464027" y="1138664"/>
            <a:ext cx="4050536" cy="3979652"/>
          </a:xfrm>
          <a:custGeom>
            <a:rect b="b" l="l" r="r" t="t"/>
            <a:pathLst>
              <a:path extrusionOk="0" h="7959303" w="8101072">
                <a:moveTo>
                  <a:pt x="0" y="0"/>
                </a:moveTo>
                <a:lnTo>
                  <a:pt x="8101072" y="0"/>
                </a:lnTo>
                <a:lnTo>
                  <a:pt x="8101072" y="7959303"/>
                </a:lnTo>
                <a:lnTo>
                  <a:pt x="0" y="7959303"/>
                </a:lnTo>
                <a:lnTo>
                  <a:pt x="0" y="0"/>
                </a:lnTo>
                <a:close/>
              </a:path>
            </a:pathLst>
          </a:custGeom>
          <a:blipFill rotWithShape="1">
            <a:blip r:embed="rId3">
              <a:alphaModFix amt="81000"/>
            </a:blip>
            <a:stretch>
              <a:fillRect b="0" l="0" r="0" t="0"/>
            </a:stretch>
          </a:blipFill>
          <a:ln>
            <a:noFill/>
          </a:ln>
        </p:spPr>
      </p:sp>
      <p:sp>
        <p:nvSpPr>
          <p:cNvPr id="62" name="Google Shape;62;p1"/>
          <p:cNvSpPr/>
          <p:nvPr/>
        </p:nvSpPr>
        <p:spPr>
          <a:xfrm>
            <a:off x="-1486429" y="-2463857"/>
            <a:ext cx="6794500" cy="6794500"/>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FFFFF">
              <a:alpha val="6667"/>
            </a:srgbClr>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1"/>
          <p:cNvSpPr/>
          <p:nvPr/>
        </p:nvSpPr>
        <p:spPr>
          <a:xfrm>
            <a:off x="3851993" y="167243"/>
            <a:ext cx="922357" cy="404684"/>
          </a:xfrm>
          <a:custGeom>
            <a:rect b="b" l="l" r="r" t="t"/>
            <a:pathLst>
              <a:path extrusionOk="0" h="809368" w="1844714">
                <a:moveTo>
                  <a:pt x="0" y="0"/>
                </a:moveTo>
                <a:lnTo>
                  <a:pt x="1844714" y="0"/>
                </a:lnTo>
                <a:lnTo>
                  <a:pt x="1844714" y="809368"/>
                </a:lnTo>
                <a:lnTo>
                  <a:pt x="0" y="809368"/>
                </a:lnTo>
                <a:lnTo>
                  <a:pt x="0" y="0"/>
                </a:lnTo>
                <a:close/>
              </a:path>
            </a:pathLst>
          </a:custGeom>
          <a:blipFill rotWithShape="1">
            <a:blip r:embed="rId4">
              <a:alphaModFix/>
            </a:blip>
            <a:stretch>
              <a:fillRect b="0" l="0" r="0" t="0"/>
            </a:stretch>
          </a:blipFill>
          <a:ln>
            <a:noFill/>
          </a:ln>
        </p:spPr>
      </p:sp>
      <p:cxnSp>
        <p:nvCxnSpPr>
          <p:cNvPr id="64" name="Google Shape;64;p1"/>
          <p:cNvCxnSpPr/>
          <p:nvPr/>
        </p:nvCxnSpPr>
        <p:spPr>
          <a:xfrm>
            <a:off x="4937899" y="230112"/>
            <a:ext cx="0" cy="279000"/>
          </a:xfrm>
          <a:prstGeom prst="straightConnector1">
            <a:avLst/>
          </a:prstGeom>
          <a:noFill/>
          <a:ln cap="flat" cmpd="sng" w="19050">
            <a:solidFill>
              <a:srgbClr val="FFFFFF"/>
            </a:solidFill>
            <a:prstDash val="solid"/>
            <a:round/>
            <a:headEnd len="sm" w="sm" type="none"/>
            <a:tailEnd len="sm" w="sm" type="none"/>
          </a:ln>
        </p:spPr>
      </p:cxnSp>
      <p:sp>
        <p:nvSpPr>
          <p:cNvPr id="65" name="Google Shape;65;p1"/>
          <p:cNvSpPr txBox="1"/>
          <p:nvPr/>
        </p:nvSpPr>
        <p:spPr>
          <a:xfrm>
            <a:off x="5099824" y="205086"/>
            <a:ext cx="2213100" cy="246300"/>
          </a:xfrm>
          <a:prstGeom prst="rect">
            <a:avLst/>
          </a:prstGeom>
          <a:noFill/>
          <a:ln>
            <a:noFill/>
          </a:ln>
        </p:spPr>
        <p:txBody>
          <a:bodyPr anchorCtr="0" anchor="t" bIns="0" lIns="0" spcFirstLastPara="1" rIns="0" wrap="square" tIns="0">
            <a:spAutoFit/>
          </a:bodyPr>
          <a:lstStyle/>
          <a:p>
            <a:pPr indent="0" lvl="0" marL="0" marR="0" rtl="0" algn="l">
              <a:lnSpc>
                <a:spcPct val="133012"/>
              </a:lnSpc>
              <a:spcBef>
                <a:spcPts val="0"/>
              </a:spcBef>
              <a:spcAft>
                <a:spcPts val="0"/>
              </a:spcAft>
              <a:buClr>
                <a:srgbClr val="000000"/>
              </a:buClr>
              <a:buSzPts val="1600"/>
              <a:buFont typeface="Arial"/>
              <a:buNone/>
            </a:pPr>
            <a:r>
              <a:rPr b="0" i="0" lang="id" sz="1600" u="none" cap="none" strike="noStrike">
                <a:solidFill>
                  <a:srgbClr val="FFFFFF"/>
                </a:solidFill>
                <a:latin typeface="Caveat"/>
                <a:ea typeface="Caveat"/>
                <a:cs typeface="Caveat"/>
                <a:sym typeface="Caveat"/>
              </a:rPr>
              <a:t>#RintisKarirImpian</a:t>
            </a:r>
            <a:endParaRPr b="0" i="0" sz="700" u="none" cap="none" strike="noStrike">
              <a:solidFill>
                <a:srgbClr val="000000"/>
              </a:solidFill>
              <a:latin typeface="Arial"/>
              <a:ea typeface="Arial"/>
              <a:cs typeface="Arial"/>
              <a:sym typeface="Arial"/>
            </a:endParaRPr>
          </a:p>
        </p:txBody>
      </p:sp>
      <p:pic>
        <p:nvPicPr>
          <p:cNvPr id="66" name="Google Shape;66;p1"/>
          <p:cNvPicPr preferRelativeResize="0"/>
          <p:nvPr/>
        </p:nvPicPr>
        <p:blipFill rotWithShape="1">
          <a:blip r:embed="rId5">
            <a:alphaModFix/>
          </a:blip>
          <a:srcRect b="0" l="56641" r="0" t="0"/>
          <a:stretch/>
        </p:blipFill>
        <p:spPr>
          <a:xfrm>
            <a:off x="0" y="-169046"/>
            <a:ext cx="3560601" cy="5481591"/>
          </a:xfrm>
          <a:prstGeom prst="rect">
            <a:avLst/>
          </a:prstGeom>
          <a:noFill/>
          <a:ln>
            <a:noFill/>
          </a:ln>
        </p:spPr>
      </p:pic>
      <p:sp>
        <p:nvSpPr>
          <p:cNvPr id="67" name="Google Shape;67;p1"/>
          <p:cNvSpPr/>
          <p:nvPr/>
        </p:nvSpPr>
        <p:spPr>
          <a:xfrm>
            <a:off x="3560603" y="1449959"/>
            <a:ext cx="7654829" cy="2243582"/>
          </a:xfrm>
          <a:custGeom>
            <a:rect b="b" l="l" r="r" t="t"/>
            <a:pathLst>
              <a:path extrusionOk="0" h="4487164" w="15309658">
                <a:moveTo>
                  <a:pt x="0" y="0"/>
                </a:moveTo>
                <a:lnTo>
                  <a:pt x="15309658" y="0"/>
                </a:lnTo>
                <a:lnTo>
                  <a:pt x="15309658" y="4487164"/>
                </a:lnTo>
                <a:lnTo>
                  <a:pt x="0" y="4487164"/>
                </a:lnTo>
                <a:lnTo>
                  <a:pt x="0" y="0"/>
                </a:lnTo>
                <a:close/>
              </a:path>
            </a:pathLst>
          </a:custGeom>
          <a:blipFill rotWithShape="1">
            <a:blip r:embed="rId6">
              <a:alphaModFix amt="70000"/>
            </a:blip>
            <a:stretch>
              <a:fillRect b="0" l="-22118" r="0" t="0"/>
            </a:stretch>
          </a:blipFill>
          <a:ln>
            <a:noFill/>
          </a:ln>
        </p:spPr>
      </p:sp>
      <p:sp>
        <p:nvSpPr>
          <p:cNvPr id="68" name="Google Shape;68;p1"/>
          <p:cNvSpPr txBox="1"/>
          <p:nvPr/>
        </p:nvSpPr>
        <p:spPr>
          <a:xfrm>
            <a:off x="3792125" y="1575500"/>
            <a:ext cx="5115900" cy="191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4800"/>
              <a:buFont typeface="Arial"/>
              <a:buNone/>
            </a:pPr>
            <a:r>
              <a:rPr b="1" i="0" lang="id" sz="4800" u="none" cap="none" strike="noStrike">
                <a:solidFill>
                  <a:schemeClr val="lt1"/>
                </a:solidFill>
                <a:latin typeface="Roboto"/>
                <a:ea typeface="Roboto"/>
                <a:cs typeface="Roboto"/>
                <a:sym typeface="Roboto"/>
              </a:rPr>
              <a:t>SQL For Data Analysis 2</a:t>
            </a:r>
            <a:endParaRPr b="1" i="0" sz="5000" u="none" cap="none" strike="noStrike">
              <a:solidFill>
                <a:schemeClr val="lt1"/>
              </a:solidFill>
              <a:latin typeface="Roboto"/>
              <a:ea typeface="Roboto"/>
              <a:cs typeface="Roboto"/>
              <a:sym typeface="Roboto"/>
            </a:endParaRPr>
          </a:p>
        </p:txBody>
      </p:sp>
      <p:sp>
        <p:nvSpPr>
          <p:cNvPr id="69" name="Google Shape;69;p1"/>
          <p:cNvSpPr txBox="1"/>
          <p:nvPr/>
        </p:nvSpPr>
        <p:spPr>
          <a:xfrm>
            <a:off x="3792125" y="799800"/>
            <a:ext cx="5115900" cy="45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id" sz="2000" u="none" cap="none" strike="noStrike">
                <a:solidFill>
                  <a:srgbClr val="FFFFFF"/>
                </a:solidFill>
                <a:latin typeface="Open Sans"/>
                <a:ea typeface="Open Sans"/>
                <a:cs typeface="Open Sans"/>
                <a:sym typeface="Open Sans"/>
              </a:rPr>
              <a:t>Portofolio - Intensive Bootcamp</a:t>
            </a:r>
            <a:endParaRPr b="1" i="0" sz="2300" u="none" cap="none" strike="noStrike">
              <a:solidFill>
                <a:srgbClr val="000000"/>
              </a:solidFill>
              <a:latin typeface="Open Sans"/>
              <a:ea typeface="Open Sans"/>
              <a:cs typeface="Open Sans"/>
              <a:sym typeface="Open Sans"/>
            </a:endParaRPr>
          </a:p>
        </p:txBody>
      </p:sp>
      <p:sp>
        <p:nvSpPr>
          <p:cNvPr id="70" name="Google Shape;70;p1"/>
          <p:cNvSpPr txBox="1"/>
          <p:nvPr/>
        </p:nvSpPr>
        <p:spPr>
          <a:xfrm>
            <a:off x="3792125" y="3812800"/>
            <a:ext cx="5115900" cy="45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id" sz="2000" u="none" cap="none" strike="noStrike">
                <a:solidFill>
                  <a:srgbClr val="FFFFFF"/>
                </a:solidFill>
                <a:latin typeface="Open Sans"/>
                <a:ea typeface="Open Sans"/>
                <a:cs typeface="Open Sans"/>
                <a:sym typeface="Open Sans"/>
              </a:rPr>
              <a:t>Owner: </a:t>
            </a:r>
            <a:r>
              <a:rPr lang="id" sz="2000">
                <a:solidFill>
                  <a:srgbClr val="FFFFFF"/>
                </a:solidFill>
                <a:latin typeface="Open Sans"/>
                <a:ea typeface="Open Sans"/>
                <a:cs typeface="Open Sans"/>
                <a:sym typeface="Open Sans"/>
              </a:rPr>
              <a:t>Muhammad Ferdy Fawwaz </a:t>
            </a:r>
            <a:endParaRPr b="0" i="0" sz="2300" u="none" cap="none" strike="noStrike">
              <a:solidFill>
                <a:srgbClr val="000000"/>
              </a:solidFill>
              <a:latin typeface="Open Sans"/>
              <a:ea typeface="Open Sans"/>
              <a:cs typeface="Open Sans"/>
              <a:sym typeface="Open Sans"/>
            </a:endParaRPr>
          </a:p>
        </p:txBody>
      </p:sp>
      <p:sp>
        <p:nvSpPr>
          <p:cNvPr id="71" name="Google Shape;71;p1"/>
          <p:cNvSpPr txBox="1"/>
          <p:nvPr/>
        </p:nvSpPr>
        <p:spPr>
          <a:xfrm>
            <a:off x="3792125" y="4412750"/>
            <a:ext cx="5115900" cy="45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id" sz="1400" u="none" cap="none" strike="noStrike">
                <a:solidFill>
                  <a:srgbClr val="000000"/>
                </a:solidFill>
                <a:highlight>
                  <a:srgbClr val="FFF2CC"/>
                </a:highlight>
                <a:latin typeface="Arial"/>
                <a:ea typeface="Arial"/>
                <a:cs typeface="Arial"/>
                <a:sym typeface="Arial"/>
              </a:rPr>
              <a:t>Build your skill and portfolio via myskill.id/bootcamp</a:t>
            </a:r>
            <a:endParaRPr b="0" i="0" sz="1400" u="none" cap="none" strike="noStrike">
              <a:solidFill>
                <a:srgbClr val="000000"/>
              </a:solidFill>
              <a:highlight>
                <a:srgbClr val="FFF2CC"/>
              </a:highlight>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5" name="Shape 75"/>
        <p:cNvGrpSpPr/>
        <p:nvPr/>
      </p:nvGrpSpPr>
      <p:grpSpPr>
        <a:xfrm>
          <a:off x="0" y="0"/>
          <a:ext cx="0" cy="0"/>
          <a:chOff x="0" y="0"/>
          <a:chExt cx="0" cy="0"/>
        </a:xfrm>
      </p:grpSpPr>
      <p:grpSp>
        <p:nvGrpSpPr>
          <p:cNvPr id="76" name="Google Shape;76;p2"/>
          <p:cNvGrpSpPr/>
          <p:nvPr/>
        </p:nvGrpSpPr>
        <p:grpSpPr>
          <a:xfrm>
            <a:off x="3854590" y="4740703"/>
            <a:ext cx="1434817" cy="389011"/>
            <a:chOff x="3248325" y="4588800"/>
            <a:chExt cx="2045939" cy="554700"/>
          </a:xfrm>
        </p:grpSpPr>
        <p:sp>
          <p:nvSpPr>
            <p:cNvPr id="77" name="Google Shape;77;p2"/>
            <p:cNvSpPr/>
            <p:nvPr/>
          </p:nvSpPr>
          <p:spPr>
            <a:xfrm>
              <a:off x="3248325" y="4588800"/>
              <a:ext cx="631500" cy="554700"/>
            </a:xfrm>
            <a:prstGeom prst="round2SameRect">
              <a:avLst>
                <a:gd fmla="val 50000"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2"/>
            <p:cNvSpPr/>
            <p:nvPr/>
          </p:nvSpPr>
          <p:spPr>
            <a:xfrm>
              <a:off x="3955544" y="4588800"/>
              <a:ext cx="631500" cy="554700"/>
            </a:xfrm>
            <a:prstGeom prst="round2SameRect">
              <a:avLst>
                <a:gd fmla="val 50000"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2"/>
            <p:cNvSpPr/>
            <p:nvPr/>
          </p:nvSpPr>
          <p:spPr>
            <a:xfrm>
              <a:off x="4662764" y="4588800"/>
              <a:ext cx="631500" cy="554700"/>
            </a:xfrm>
            <a:prstGeom prst="round2SameRect">
              <a:avLst>
                <a:gd fmla="val 50000"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0" name="Google Shape;80;p2"/>
          <p:cNvGrpSpPr/>
          <p:nvPr/>
        </p:nvGrpSpPr>
        <p:grpSpPr>
          <a:xfrm>
            <a:off x="8325085" y="65154"/>
            <a:ext cx="763768" cy="752531"/>
            <a:chOff x="695950" y="3458000"/>
            <a:chExt cx="966550" cy="952450"/>
          </a:xfrm>
        </p:grpSpPr>
        <p:sp>
          <p:nvSpPr>
            <p:cNvPr id="81" name="Google Shape;81;p2"/>
            <p:cNvSpPr/>
            <p:nvPr/>
          </p:nvSpPr>
          <p:spPr>
            <a:xfrm>
              <a:off x="695950" y="345800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2"/>
            <p:cNvSpPr/>
            <p:nvPr/>
          </p:nvSpPr>
          <p:spPr>
            <a:xfrm>
              <a:off x="1065675" y="345800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2"/>
            <p:cNvSpPr/>
            <p:nvPr/>
          </p:nvSpPr>
          <p:spPr>
            <a:xfrm>
              <a:off x="1435400" y="345800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2"/>
            <p:cNvSpPr/>
            <p:nvPr/>
          </p:nvSpPr>
          <p:spPr>
            <a:xfrm>
              <a:off x="695950" y="3820675"/>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2"/>
            <p:cNvSpPr/>
            <p:nvPr/>
          </p:nvSpPr>
          <p:spPr>
            <a:xfrm>
              <a:off x="1065675" y="3820675"/>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2"/>
            <p:cNvSpPr/>
            <p:nvPr/>
          </p:nvSpPr>
          <p:spPr>
            <a:xfrm>
              <a:off x="1435400" y="3820675"/>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2"/>
            <p:cNvSpPr/>
            <p:nvPr/>
          </p:nvSpPr>
          <p:spPr>
            <a:xfrm>
              <a:off x="695950" y="418335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2"/>
            <p:cNvSpPr/>
            <p:nvPr/>
          </p:nvSpPr>
          <p:spPr>
            <a:xfrm>
              <a:off x="1065675" y="418335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2"/>
            <p:cNvSpPr/>
            <p:nvPr/>
          </p:nvSpPr>
          <p:spPr>
            <a:xfrm>
              <a:off x="1435400" y="418335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0" name="Google Shape;90;p2"/>
          <p:cNvSpPr txBox="1"/>
          <p:nvPr/>
        </p:nvSpPr>
        <p:spPr>
          <a:xfrm>
            <a:off x="212775" y="4649600"/>
            <a:ext cx="1434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id" sz="1100" u="none" cap="none" strike="noStrike">
                <a:solidFill>
                  <a:srgbClr val="18919B"/>
                </a:solidFill>
                <a:latin typeface="Caveat"/>
                <a:ea typeface="Caveat"/>
                <a:cs typeface="Caveat"/>
                <a:sym typeface="Caveat"/>
              </a:rPr>
              <a:t>#RintisKarirImpian</a:t>
            </a:r>
            <a:endParaRPr b="1" i="0" sz="1100" u="none" cap="none" strike="noStrike">
              <a:solidFill>
                <a:srgbClr val="18919B"/>
              </a:solidFill>
              <a:latin typeface="Caveat"/>
              <a:ea typeface="Caveat"/>
              <a:cs typeface="Caveat"/>
              <a:sym typeface="Caveat"/>
            </a:endParaRPr>
          </a:p>
        </p:txBody>
      </p:sp>
      <p:pic>
        <p:nvPicPr>
          <p:cNvPr id="91" name="Google Shape;91;p2"/>
          <p:cNvPicPr preferRelativeResize="0"/>
          <p:nvPr/>
        </p:nvPicPr>
        <p:blipFill rotWithShape="1">
          <a:blip r:embed="rId3">
            <a:alphaModFix/>
          </a:blip>
          <a:srcRect b="0" l="0" r="0" t="0"/>
          <a:stretch/>
        </p:blipFill>
        <p:spPr>
          <a:xfrm>
            <a:off x="8410175" y="4803796"/>
            <a:ext cx="558450" cy="262804"/>
          </a:xfrm>
          <a:prstGeom prst="rect">
            <a:avLst/>
          </a:prstGeom>
          <a:noFill/>
          <a:ln>
            <a:noFill/>
          </a:ln>
        </p:spPr>
      </p:pic>
      <p:sp>
        <p:nvSpPr>
          <p:cNvPr id="92" name="Google Shape;92;p2"/>
          <p:cNvSpPr txBox="1"/>
          <p:nvPr/>
        </p:nvSpPr>
        <p:spPr>
          <a:xfrm>
            <a:off x="278025" y="454325"/>
            <a:ext cx="8462100" cy="443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3600"/>
              <a:buFont typeface="Arial"/>
              <a:buNone/>
            </a:pPr>
            <a:r>
              <a:rPr b="1" i="0" lang="id" sz="2800" u="none" cap="none" strike="noStrike">
                <a:solidFill>
                  <a:srgbClr val="17919B"/>
                </a:solidFill>
                <a:latin typeface="Roboto"/>
                <a:ea typeface="Roboto"/>
                <a:cs typeface="Roboto"/>
                <a:sym typeface="Roboto"/>
              </a:rPr>
              <a:t>Petunjuk Pengerjaan</a:t>
            </a:r>
            <a:endParaRPr b="1" i="0" sz="2800" u="none" cap="none" strike="noStrike">
              <a:solidFill>
                <a:srgbClr val="FFFFFF"/>
              </a:solidFill>
              <a:latin typeface="Roboto"/>
              <a:ea typeface="Roboto"/>
              <a:cs typeface="Roboto"/>
              <a:sym typeface="Roboto"/>
            </a:endParaRPr>
          </a:p>
        </p:txBody>
      </p:sp>
      <p:sp>
        <p:nvSpPr>
          <p:cNvPr id="93" name="Google Shape;93;p2"/>
          <p:cNvSpPr txBox="1"/>
          <p:nvPr/>
        </p:nvSpPr>
        <p:spPr>
          <a:xfrm>
            <a:off x="212775" y="1001700"/>
            <a:ext cx="8462100" cy="2770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id" sz="1200" u="none" cap="none" strike="noStrike">
                <a:solidFill>
                  <a:srgbClr val="000000"/>
                </a:solidFill>
                <a:latin typeface="Roboto"/>
                <a:ea typeface="Roboto"/>
                <a:cs typeface="Roboto"/>
                <a:sym typeface="Roboto"/>
              </a:rPr>
              <a:t>Dokumen ini memang tidak open access untuk edit, maka silahkan copy file ini lalu kerjakanlah pada device masing-masing, dengan cara klik </a:t>
            </a:r>
            <a:r>
              <a:rPr b="1" i="0" lang="id" sz="1200" u="none" cap="none" strike="noStrike">
                <a:solidFill>
                  <a:srgbClr val="18919B"/>
                </a:solidFill>
                <a:latin typeface="Roboto"/>
                <a:ea typeface="Roboto"/>
                <a:cs typeface="Roboto"/>
                <a:sym typeface="Roboto"/>
              </a:rPr>
              <a:t>File</a:t>
            </a:r>
            <a:r>
              <a:rPr b="0" i="0" lang="id" sz="1200" u="none" cap="none" strike="noStrike">
                <a:solidFill>
                  <a:srgbClr val="000000"/>
                </a:solidFill>
                <a:latin typeface="Roboto"/>
                <a:ea typeface="Roboto"/>
                <a:cs typeface="Roboto"/>
                <a:sym typeface="Roboto"/>
              </a:rPr>
              <a:t> pada pojok kiri atas, pilih </a:t>
            </a:r>
            <a:r>
              <a:rPr b="1" i="0" lang="id" sz="1200" u="none" cap="none" strike="noStrike">
                <a:solidFill>
                  <a:srgbClr val="18919B"/>
                </a:solidFill>
                <a:latin typeface="Roboto"/>
                <a:ea typeface="Roboto"/>
                <a:cs typeface="Roboto"/>
                <a:sym typeface="Roboto"/>
              </a:rPr>
              <a:t>Make a Copy</a:t>
            </a:r>
            <a:r>
              <a:rPr b="0" i="0" lang="id" sz="1200" u="none" cap="none" strike="noStrike">
                <a:solidFill>
                  <a:srgbClr val="000000"/>
                </a:solidFill>
                <a:latin typeface="Roboto"/>
                <a:ea typeface="Roboto"/>
                <a:cs typeface="Roboto"/>
                <a:sym typeface="Roboto"/>
              </a:rPr>
              <a:t>. Setelah file berhasil di copy, ubah nama sesuai nama masing-masing.</a:t>
            </a:r>
            <a:br>
              <a:rPr b="0" i="0" lang="id" sz="1200" u="none" cap="none" strike="noStrike">
                <a:solidFill>
                  <a:srgbClr val="000000"/>
                </a:solidFill>
                <a:latin typeface="Roboto"/>
                <a:ea typeface="Roboto"/>
                <a:cs typeface="Roboto"/>
                <a:sym typeface="Roboto"/>
              </a:rPr>
            </a:br>
            <a:br>
              <a:rPr b="0" i="0" lang="id" sz="1200" u="none" cap="none" strike="noStrike">
                <a:solidFill>
                  <a:srgbClr val="000000"/>
                </a:solidFill>
                <a:latin typeface="Roboto"/>
                <a:ea typeface="Roboto"/>
                <a:cs typeface="Roboto"/>
                <a:sym typeface="Roboto"/>
              </a:rPr>
            </a:br>
            <a:r>
              <a:rPr b="1" i="0" lang="id" sz="1200" u="none" cap="none" strike="noStrike">
                <a:solidFill>
                  <a:srgbClr val="18919B"/>
                </a:solidFill>
                <a:latin typeface="Roboto"/>
                <a:ea typeface="Roboto"/>
                <a:cs typeface="Roboto"/>
                <a:sym typeface="Roboto"/>
              </a:rPr>
              <a:t>Untuk mengerjakan, perhatikan petunjuk dibawah ini:</a:t>
            </a:r>
            <a:endParaRPr b="1" i="0" sz="1200" u="none" cap="none" strike="noStrike">
              <a:solidFill>
                <a:srgbClr val="18919B"/>
              </a:solidFill>
              <a:latin typeface="Roboto"/>
              <a:ea typeface="Roboto"/>
              <a:cs typeface="Roboto"/>
              <a:sym typeface="Roboto"/>
            </a:endParaRPr>
          </a:p>
          <a:p>
            <a:pPr indent="-304800" lvl="0" marL="457200" marR="0" rtl="0" algn="l">
              <a:lnSpc>
                <a:spcPct val="100000"/>
              </a:lnSpc>
              <a:spcBef>
                <a:spcPts val="0"/>
              </a:spcBef>
              <a:spcAft>
                <a:spcPts val="0"/>
              </a:spcAft>
              <a:buClr>
                <a:schemeClr val="dk1"/>
              </a:buClr>
              <a:buSzPts val="1200"/>
              <a:buFont typeface="Roboto"/>
              <a:buAutoNum type="arabicPeriod"/>
            </a:pPr>
            <a:r>
              <a:rPr b="0" i="0" lang="id" sz="1200" u="none" cap="none" strike="noStrike">
                <a:solidFill>
                  <a:schemeClr val="dk1"/>
                </a:solidFill>
                <a:latin typeface="Roboto"/>
                <a:ea typeface="Roboto"/>
                <a:cs typeface="Roboto"/>
                <a:sym typeface="Roboto"/>
              </a:rPr>
              <a:t>Jawablah masing-masing pertanyaan di slide selanjutnya berdasarkan pengetahuanmu dan berdasarkan apa yang kamu pahami pada materi tiap sesi. </a:t>
            </a:r>
            <a:endParaRPr b="0" i="0" sz="1200" u="none" cap="none" strike="noStrike">
              <a:solidFill>
                <a:schemeClr val="dk1"/>
              </a:solidFill>
              <a:latin typeface="Roboto"/>
              <a:ea typeface="Roboto"/>
              <a:cs typeface="Roboto"/>
              <a:sym typeface="Roboto"/>
            </a:endParaRPr>
          </a:p>
          <a:p>
            <a:pPr indent="-304800" lvl="0" marL="457200" marR="0" rtl="0" algn="l">
              <a:lnSpc>
                <a:spcPct val="100000"/>
              </a:lnSpc>
              <a:spcBef>
                <a:spcPts val="0"/>
              </a:spcBef>
              <a:spcAft>
                <a:spcPts val="0"/>
              </a:spcAft>
              <a:buClr>
                <a:schemeClr val="dk1"/>
              </a:buClr>
              <a:buSzPts val="1200"/>
              <a:buFont typeface="Roboto"/>
              <a:buAutoNum type="arabicPeriod"/>
            </a:pPr>
            <a:r>
              <a:rPr b="0" i="0" lang="id" sz="1200" u="none" cap="none" strike="noStrike">
                <a:solidFill>
                  <a:schemeClr val="dk1"/>
                </a:solidFill>
                <a:latin typeface="Roboto"/>
                <a:ea typeface="Roboto"/>
                <a:cs typeface="Roboto"/>
                <a:sym typeface="Roboto"/>
              </a:rPr>
              <a:t>Set pengaturan akses file sebagai </a:t>
            </a:r>
            <a:r>
              <a:rPr b="1" i="0" lang="id" sz="1200" u="none" cap="none" strike="noStrike">
                <a:solidFill>
                  <a:srgbClr val="18919B"/>
                </a:solidFill>
                <a:latin typeface="Roboto"/>
                <a:ea typeface="Roboto"/>
                <a:cs typeface="Roboto"/>
                <a:sym typeface="Roboto"/>
              </a:rPr>
              <a:t>Publik</a:t>
            </a:r>
            <a:r>
              <a:rPr b="0" i="0" lang="id" sz="1200" u="none" cap="none" strike="noStrike">
                <a:solidFill>
                  <a:schemeClr val="dk1"/>
                </a:solidFill>
                <a:latin typeface="Roboto"/>
                <a:ea typeface="Roboto"/>
                <a:cs typeface="Roboto"/>
                <a:sym typeface="Roboto"/>
              </a:rPr>
              <a:t> namun cukup </a:t>
            </a:r>
            <a:r>
              <a:rPr b="1" i="0" lang="id" sz="1200" u="none" cap="none" strike="noStrike">
                <a:solidFill>
                  <a:srgbClr val="18919B"/>
                </a:solidFill>
                <a:latin typeface="Roboto"/>
                <a:ea typeface="Roboto"/>
                <a:cs typeface="Roboto"/>
                <a:sym typeface="Roboto"/>
              </a:rPr>
              <a:t>View Only </a:t>
            </a:r>
            <a:r>
              <a:rPr b="0" i="0" lang="id" sz="1200" u="none" cap="none" strike="noStrike">
                <a:solidFill>
                  <a:schemeClr val="dk1"/>
                </a:solidFill>
                <a:latin typeface="Roboto"/>
                <a:ea typeface="Roboto"/>
                <a:cs typeface="Roboto"/>
                <a:sym typeface="Roboto"/>
              </a:rPr>
              <a:t>agar tugas dapat dicek oleh Class Assistant.</a:t>
            </a:r>
            <a:endParaRPr b="0" i="0" sz="1200" u="none" cap="none" strike="noStrike">
              <a:solidFill>
                <a:schemeClr val="dk1"/>
              </a:solidFill>
              <a:latin typeface="Roboto"/>
              <a:ea typeface="Roboto"/>
              <a:cs typeface="Roboto"/>
              <a:sym typeface="Roboto"/>
            </a:endParaRPr>
          </a:p>
          <a:p>
            <a:pPr indent="-304800" lvl="0" marL="457200" marR="0" rtl="0" algn="l">
              <a:lnSpc>
                <a:spcPct val="100000"/>
              </a:lnSpc>
              <a:spcBef>
                <a:spcPts val="0"/>
              </a:spcBef>
              <a:spcAft>
                <a:spcPts val="0"/>
              </a:spcAft>
              <a:buClr>
                <a:schemeClr val="dk1"/>
              </a:buClr>
              <a:buSzPts val="1200"/>
              <a:buFont typeface="Roboto"/>
              <a:buAutoNum type="arabicPeriod"/>
            </a:pPr>
            <a:r>
              <a:rPr b="0" i="0" lang="id" sz="1200" u="none" cap="none" strike="noStrike">
                <a:solidFill>
                  <a:schemeClr val="dk1"/>
                </a:solidFill>
                <a:latin typeface="Roboto"/>
                <a:ea typeface="Roboto"/>
                <a:cs typeface="Roboto"/>
                <a:sym typeface="Roboto"/>
              </a:rPr>
              <a:t>Silahkan kirim link sheet mini task berikut di form pengumpulan mini task yang sudah tersedia di </a:t>
            </a:r>
            <a:r>
              <a:rPr b="1" i="0" lang="id" sz="1200" u="sng" cap="none" strike="noStrike">
                <a:solidFill>
                  <a:schemeClr val="hlink"/>
                </a:solidFill>
                <a:latin typeface="Roboto"/>
                <a:ea typeface="Roboto"/>
                <a:cs typeface="Roboto"/>
                <a:sym typeface="Roboto"/>
                <a:hlinkClick r:id="rId4"/>
              </a:rPr>
              <a:t>To Do List bootcamp Data Analysis batch 21.</a:t>
            </a:r>
            <a:endParaRPr b="1" i="0" sz="1200" u="none" cap="none" strike="noStrike">
              <a:solidFill>
                <a:schemeClr val="dk1"/>
              </a:solidFill>
              <a:latin typeface="Roboto"/>
              <a:ea typeface="Roboto"/>
              <a:cs typeface="Roboto"/>
              <a:sym typeface="Roboto"/>
            </a:endParaRPr>
          </a:p>
          <a:p>
            <a:pPr indent="-304800" lvl="0" marL="457200" marR="0" rtl="0" algn="l">
              <a:lnSpc>
                <a:spcPct val="100000"/>
              </a:lnSpc>
              <a:spcBef>
                <a:spcPts val="0"/>
              </a:spcBef>
              <a:spcAft>
                <a:spcPts val="0"/>
              </a:spcAft>
              <a:buClr>
                <a:schemeClr val="dk1"/>
              </a:buClr>
              <a:buSzPts val="1200"/>
              <a:buFont typeface="Roboto"/>
              <a:buAutoNum type="arabicPeriod"/>
            </a:pPr>
            <a:r>
              <a:rPr b="0" i="0" lang="id" sz="1200" u="none" cap="none" strike="noStrike">
                <a:solidFill>
                  <a:schemeClr val="dk1"/>
                </a:solidFill>
                <a:latin typeface="Roboto"/>
                <a:ea typeface="Roboto"/>
                <a:cs typeface="Roboto"/>
                <a:sym typeface="Roboto"/>
              </a:rPr>
              <a:t>Upload pekerjaanmu di LinkedIn dan tag </a:t>
            </a:r>
            <a:r>
              <a:rPr b="1" i="0" lang="id" sz="1200" u="none" cap="none" strike="noStrike">
                <a:solidFill>
                  <a:srgbClr val="18919B"/>
                </a:solidFill>
                <a:latin typeface="Roboto"/>
                <a:ea typeface="Roboto"/>
                <a:cs typeface="Roboto"/>
                <a:sym typeface="Roboto"/>
              </a:rPr>
              <a:t>@MySkill</a:t>
            </a:r>
            <a:r>
              <a:rPr b="0" i="0" lang="id" sz="1200" u="none" cap="none" strike="noStrike">
                <a:solidFill>
                  <a:schemeClr val="dk1"/>
                </a:solidFill>
                <a:latin typeface="Roboto"/>
                <a:ea typeface="Roboto"/>
                <a:cs typeface="Roboto"/>
                <a:sym typeface="Roboto"/>
              </a:rPr>
              <a:t> juga </a:t>
            </a:r>
            <a:r>
              <a:rPr b="1" i="0" lang="id" sz="1200" u="none" cap="none" strike="noStrike">
                <a:solidFill>
                  <a:srgbClr val="18919B"/>
                </a:solidFill>
                <a:latin typeface="Roboto"/>
                <a:ea typeface="Roboto"/>
                <a:cs typeface="Roboto"/>
                <a:sym typeface="Roboto"/>
              </a:rPr>
              <a:t>Class Assistant</a:t>
            </a:r>
            <a:r>
              <a:rPr b="0" i="0" lang="id" sz="1200" u="none" cap="none" strike="noStrike">
                <a:solidFill>
                  <a:schemeClr val="dk1"/>
                </a:solidFill>
                <a:latin typeface="Roboto"/>
                <a:ea typeface="Roboto"/>
                <a:cs typeface="Roboto"/>
                <a:sym typeface="Roboto"/>
              </a:rPr>
              <a:t> yang mendampingi serta </a:t>
            </a:r>
            <a:r>
              <a:rPr b="1" i="0" lang="id" sz="1200" u="none" cap="none" strike="noStrike">
                <a:solidFill>
                  <a:srgbClr val="18919B"/>
                </a:solidFill>
                <a:latin typeface="Roboto"/>
                <a:ea typeface="Roboto"/>
                <a:cs typeface="Roboto"/>
                <a:sym typeface="Roboto"/>
              </a:rPr>
              <a:t>Tutor</a:t>
            </a:r>
            <a:r>
              <a:rPr b="0" i="0" lang="id" sz="1200" u="none" cap="none" strike="noStrike">
                <a:solidFill>
                  <a:schemeClr val="dk1"/>
                </a:solidFill>
                <a:latin typeface="Roboto"/>
                <a:ea typeface="Roboto"/>
                <a:cs typeface="Roboto"/>
                <a:sym typeface="Roboto"/>
              </a:rPr>
              <a:t> yang mengajar di sesi kelas. Yang di upload boleh berupa file PPT, maupun screenshot dari file ini.</a:t>
            </a:r>
            <a:endParaRPr b="1"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grpSp>
        <p:nvGrpSpPr>
          <p:cNvPr id="98" name="Google Shape;98;p3"/>
          <p:cNvGrpSpPr/>
          <p:nvPr/>
        </p:nvGrpSpPr>
        <p:grpSpPr>
          <a:xfrm>
            <a:off x="3854590" y="4740700"/>
            <a:ext cx="1434817" cy="389011"/>
            <a:chOff x="3248325" y="4588800"/>
            <a:chExt cx="2045939" cy="554700"/>
          </a:xfrm>
        </p:grpSpPr>
        <p:sp>
          <p:nvSpPr>
            <p:cNvPr id="99" name="Google Shape;99;p3"/>
            <p:cNvSpPr/>
            <p:nvPr/>
          </p:nvSpPr>
          <p:spPr>
            <a:xfrm>
              <a:off x="3248325" y="4588800"/>
              <a:ext cx="631500" cy="554700"/>
            </a:xfrm>
            <a:prstGeom prst="round2SameRect">
              <a:avLst>
                <a:gd fmla="val 50000"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3"/>
            <p:cNvSpPr/>
            <p:nvPr/>
          </p:nvSpPr>
          <p:spPr>
            <a:xfrm>
              <a:off x="3955544" y="4588800"/>
              <a:ext cx="631500" cy="554700"/>
            </a:xfrm>
            <a:prstGeom prst="round2SameRect">
              <a:avLst>
                <a:gd fmla="val 50000"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3"/>
            <p:cNvSpPr/>
            <p:nvPr/>
          </p:nvSpPr>
          <p:spPr>
            <a:xfrm>
              <a:off x="4662764" y="4588800"/>
              <a:ext cx="631500" cy="554700"/>
            </a:xfrm>
            <a:prstGeom prst="round2SameRect">
              <a:avLst>
                <a:gd fmla="val 50000"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2" name="Google Shape;102;p3"/>
          <p:cNvGrpSpPr/>
          <p:nvPr/>
        </p:nvGrpSpPr>
        <p:grpSpPr>
          <a:xfrm>
            <a:off x="8325085" y="65157"/>
            <a:ext cx="763768" cy="752531"/>
            <a:chOff x="695950" y="3458000"/>
            <a:chExt cx="966550" cy="952450"/>
          </a:xfrm>
        </p:grpSpPr>
        <p:sp>
          <p:nvSpPr>
            <p:cNvPr id="103" name="Google Shape;103;p3"/>
            <p:cNvSpPr/>
            <p:nvPr/>
          </p:nvSpPr>
          <p:spPr>
            <a:xfrm>
              <a:off x="695950" y="345800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3"/>
            <p:cNvSpPr/>
            <p:nvPr/>
          </p:nvSpPr>
          <p:spPr>
            <a:xfrm>
              <a:off x="1065675" y="345800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3"/>
            <p:cNvSpPr/>
            <p:nvPr/>
          </p:nvSpPr>
          <p:spPr>
            <a:xfrm>
              <a:off x="1435400" y="345800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3"/>
            <p:cNvSpPr/>
            <p:nvPr/>
          </p:nvSpPr>
          <p:spPr>
            <a:xfrm>
              <a:off x="695950" y="3820675"/>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3"/>
            <p:cNvSpPr/>
            <p:nvPr/>
          </p:nvSpPr>
          <p:spPr>
            <a:xfrm>
              <a:off x="1065675" y="3820675"/>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3"/>
            <p:cNvSpPr/>
            <p:nvPr/>
          </p:nvSpPr>
          <p:spPr>
            <a:xfrm>
              <a:off x="1435400" y="3820675"/>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3"/>
            <p:cNvSpPr/>
            <p:nvPr/>
          </p:nvSpPr>
          <p:spPr>
            <a:xfrm>
              <a:off x="695950" y="418335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3"/>
            <p:cNvSpPr/>
            <p:nvPr/>
          </p:nvSpPr>
          <p:spPr>
            <a:xfrm>
              <a:off x="1065675" y="418335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3"/>
            <p:cNvSpPr/>
            <p:nvPr/>
          </p:nvSpPr>
          <p:spPr>
            <a:xfrm>
              <a:off x="1435400" y="4183350"/>
              <a:ext cx="227100" cy="227100"/>
            </a:xfrm>
            <a:prstGeom prst="ellipse">
              <a:avLst/>
            </a:prstGeom>
            <a:solidFill>
              <a:srgbClr val="EFEF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2" name="Google Shape;112;p3"/>
          <p:cNvSpPr/>
          <p:nvPr/>
        </p:nvSpPr>
        <p:spPr>
          <a:xfrm rot="10800000">
            <a:off x="-381375" y="2274300"/>
            <a:ext cx="740700" cy="692700"/>
          </a:xfrm>
          <a:prstGeom prst="pie">
            <a:avLst>
              <a:gd fmla="val 5441529" name="adj1"/>
              <a:gd fmla="val 1620000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3"/>
          <p:cNvSpPr txBox="1"/>
          <p:nvPr/>
        </p:nvSpPr>
        <p:spPr>
          <a:xfrm>
            <a:off x="212775" y="4649600"/>
            <a:ext cx="1434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id" sz="1100" u="none" cap="none" strike="noStrike">
                <a:solidFill>
                  <a:srgbClr val="18919B"/>
                </a:solidFill>
                <a:latin typeface="Caveat"/>
                <a:ea typeface="Caveat"/>
                <a:cs typeface="Caveat"/>
                <a:sym typeface="Caveat"/>
              </a:rPr>
              <a:t>#RintisKarirImpian</a:t>
            </a:r>
            <a:endParaRPr b="1" i="0" sz="1100" u="none" cap="none" strike="noStrike">
              <a:solidFill>
                <a:srgbClr val="18919B"/>
              </a:solidFill>
              <a:latin typeface="Caveat"/>
              <a:ea typeface="Caveat"/>
              <a:cs typeface="Caveat"/>
              <a:sym typeface="Caveat"/>
            </a:endParaRPr>
          </a:p>
        </p:txBody>
      </p:sp>
      <p:pic>
        <p:nvPicPr>
          <p:cNvPr id="114" name="Google Shape;114;p3"/>
          <p:cNvPicPr preferRelativeResize="0"/>
          <p:nvPr/>
        </p:nvPicPr>
        <p:blipFill rotWithShape="1">
          <a:blip r:embed="rId3">
            <a:alphaModFix/>
          </a:blip>
          <a:srcRect b="0" l="0" r="0" t="0"/>
          <a:stretch/>
        </p:blipFill>
        <p:spPr>
          <a:xfrm>
            <a:off x="8410175" y="4803796"/>
            <a:ext cx="558450" cy="262804"/>
          </a:xfrm>
          <a:prstGeom prst="rect">
            <a:avLst/>
          </a:prstGeom>
          <a:noFill/>
          <a:ln>
            <a:noFill/>
          </a:ln>
        </p:spPr>
      </p:pic>
      <p:sp>
        <p:nvSpPr>
          <p:cNvPr id="115" name="Google Shape;115;p3"/>
          <p:cNvSpPr txBox="1"/>
          <p:nvPr>
            <p:ph idx="4294967295" type="title"/>
          </p:nvPr>
        </p:nvSpPr>
        <p:spPr>
          <a:xfrm>
            <a:off x="262450" y="1070050"/>
            <a:ext cx="8520600" cy="24552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990"/>
              <a:buNone/>
            </a:pPr>
            <a:r>
              <a:rPr b="1" lang="id" sz="1800">
                <a:solidFill>
                  <a:srgbClr val="18919B"/>
                </a:solidFill>
                <a:highlight>
                  <a:srgbClr val="FFFFFF"/>
                </a:highlight>
              </a:rPr>
              <a:t>SQL for Data Analysis 2</a:t>
            </a:r>
            <a:endParaRPr b="1" sz="1800">
              <a:solidFill>
                <a:srgbClr val="18919B"/>
              </a:solidFill>
              <a:highlight>
                <a:srgbClr val="FFFFFF"/>
              </a:highlight>
            </a:endParaRPr>
          </a:p>
          <a:p>
            <a:pPr indent="-323850" lvl="0" marL="457200" rtl="0" algn="l">
              <a:lnSpc>
                <a:spcPct val="150000"/>
              </a:lnSpc>
              <a:spcBef>
                <a:spcPts val="0"/>
              </a:spcBef>
              <a:spcAft>
                <a:spcPts val="0"/>
              </a:spcAft>
              <a:buClr>
                <a:srgbClr val="18919B"/>
              </a:buClr>
              <a:buSzPts val="1500"/>
              <a:buFont typeface="Roboto"/>
              <a:buChar char="●"/>
            </a:pPr>
            <a:r>
              <a:rPr lang="id" sz="1500">
                <a:solidFill>
                  <a:srgbClr val="18919B"/>
                </a:solidFill>
                <a:highlight>
                  <a:srgbClr val="FFFFFF"/>
                </a:highlight>
                <a:latin typeface="Roboto"/>
                <a:ea typeface="Roboto"/>
                <a:cs typeface="Roboto"/>
                <a:sym typeface="Roboto"/>
              </a:rPr>
              <a:t>Tentukan kota mana yang memiliki revenue tertinggi</a:t>
            </a:r>
            <a:endParaRPr sz="1500">
              <a:solidFill>
                <a:srgbClr val="18919B"/>
              </a:solidFill>
              <a:highlight>
                <a:srgbClr val="FFFFFF"/>
              </a:highlight>
              <a:latin typeface="Roboto"/>
              <a:ea typeface="Roboto"/>
              <a:cs typeface="Roboto"/>
              <a:sym typeface="Roboto"/>
            </a:endParaRPr>
          </a:p>
          <a:p>
            <a:pPr indent="-323850" lvl="0" marL="457200" rtl="0" algn="l">
              <a:lnSpc>
                <a:spcPct val="150000"/>
              </a:lnSpc>
              <a:spcBef>
                <a:spcPts val="0"/>
              </a:spcBef>
              <a:spcAft>
                <a:spcPts val="0"/>
              </a:spcAft>
              <a:buClr>
                <a:srgbClr val="18919B"/>
              </a:buClr>
              <a:buSzPts val="1500"/>
              <a:buFont typeface="Roboto"/>
              <a:buChar char="●"/>
            </a:pPr>
            <a:r>
              <a:rPr lang="id" sz="1500">
                <a:solidFill>
                  <a:srgbClr val="18919B"/>
                </a:solidFill>
                <a:highlight>
                  <a:srgbClr val="FFFFFF"/>
                </a:highlight>
                <a:latin typeface="Roboto"/>
                <a:ea typeface="Roboto"/>
                <a:cs typeface="Roboto"/>
                <a:sym typeface="Roboto"/>
              </a:rPr>
              <a:t>Dari kota pada poin sebelumnya, hitung rata-rata spending per konsumen pada kota tersebut</a:t>
            </a:r>
            <a:endParaRPr sz="1500">
              <a:solidFill>
                <a:srgbClr val="18919B"/>
              </a:solidFill>
              <a:highlight>
                <a:srgbClr val="FFFFFF"/>
              </a:highlight>
              <a:latin typeface="Roboto"/>
              <a:ea typeface="Roboto"/>
              <a:cs typeface="Roboto"/>
              <a:sym typeface="Roboto"/>
            </a:endParaRPr>
          </a:p>
          <a:p>
            <a:pPr indent="-323850" lvl="0" marL="457200" rtl="0" algn="l">
              <a:lnSpc>
                <a:spcPct val="150000"/>
              </a:lnSpc>
              <a:spcBef>
                <a:spcPts val="0"/>
              </a:spcBef>
              <a:spcAft>
                <a:spcPts val="0"/>
              </a:spcAft>
              <a:buClr>
                <a:srgbClr val="18919B"/>
              </a:buClr>
              <a:buSzPts val="1500"/>
              <a:buFont typeface="Roboto"/>
              <a:buChar char="●"/>
            </a:pPr>
            <a:r>
              <a:rPr lang="id" sz="1500">
                <a:solidFill>
                  <a:srgbClr val="18919B"/>
                </a:solidFill>
                <a:highlight>
                  <a:srgbClr val="FFFFFF"/>
                </a:highlight>
                <a:latin typeface="Roboto"/>
                <a:ea typeface="Roboto"/>
                <a:cs typeface="Roboto"/>
                <a:sym typeface="Roboto"/>
              </a:rPr>
              <a:t>Tampilkan tabel berisi nama nama konsumen pada poin pertama yang memiliki spending di atas rata-rata</a:t>
            </a:r>
            <a:endParaRPr sz="1500">
              <a:solidFill>
                <a:srgbClr val="18919B"/>
              </a:solidFill>
              <a:highlight>
                <a:srgbClr val="FFFFFF"/>
              </a:highlight>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3f72dca9dbe_0_0"/>
          <p:cNvSpPr txBox="1"/>
          <p:nvPr/>
        </p:nvSpPr>
        <p:spPr>
          <a:xfrm>
            <a:off x="311700" y="138569"/>
            <a:ext cx="8520600" cy="57270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None/>
            </a:pPr>
            <a:r>
              <a:rPr b="1" lang="id" sz="1700">
                <a:solidFill>
                  <a:srgbClr val="18919B"/>
                </a:solidFill>
              </a:rPr>
              <a:t>Analisis Kota dengan Pendapatan Tertinggi </a:t>
            </a:r>
            <a:endParaRPr b="1" sz="1820">
              <a:solidFill>
                <a:srgbClr val="18919B"/>
              </a:solidFill>
              <a:latin typeface="Roboto"/>
              <a:ea typeface="Roboto"/>
              <a:cs typeface="Roboto"/>
              <a:sym typeface="Roboto"/>
            </a:endParaRPr>
          </a:p>
        </p:txBody>
      </p:sp>
      <p:sp>
        <p:nvSpPr>
          <p:cNvPr id="121" name="Google Shape;121;g3f72dca9dbe_0_0"/>
          <p:cNvSpPr txBox="1"/>
          <p:nvPr/>
        </p:nvSpPr>
        <p:spPr>
          <a:xfrm>
            <a:off x="212775" y="4649600"/>
            <a:ext cx="1434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id" sz="1100" u="none" cap="none" strike="noStrike">
                <a:solidFill>
                  <a:srgbClr val="18919B"/>
                </a:solidFill>
                <a:latin typeface="Caveat"/>
                <a:ea typeface="Caveat"/>
                <a:cs typeface="Caveat"/>
                <a:sym typeface="Caveat"/>
              </a:rPr>
              <a:t>#RintisKarirImpian</a:t>
            </a:r>
            <a:endParaRPr b="1" i="0" sz="1100" u="none" cap="none" strike="noStrike">
              <a:solidFill>
                <a:srgbClr val="18919B"/>
              </a:solidFill>
              <a:latin typeface="Caveat"/>
              <a:ea typeface="Caveat"/>
              <a:cs typeface="Caveat"/>
              <a:sym typeface="Caveat"/>
            </a:endParaRPr>
          </a:p>
        </p:txBody>
      </p:sp>
      <p:pic>
        <p:nvPicPr>
          <p:cNvPr id="122" name="Google Shape;122;g3f72dca9dbe_0_0"/>
          <p:cNvPicPr preferRelativeResize="0"/>
          <p:nvPr/>
        </p:nvPicPr>
        <p:blipFill rotWithShape="1">
          <a:blip r:embed="rId3">
            <a:alphaModFix/>
          </a:blip>
          <a:srcRect b="0" l="0" r="0" t="0"/>
          <a:stretch/>
        </p:blipFill>
        <p:spPr>
          <a:xfrm>
            <a:off x="8410175" y="4803796"/>
            <a:ext cx="558450" cy="262804"/>
          </a:xfrm>
          <a:prstGeom prst="rect">
            <a:avLst/>
          </a:prstGeom>
          <a:noFill/>
          <a:ln>
            <a:noFill/>
          </a:ln>
        </p:spPr>
      </p:pic>
      <p:sp>
        <p:nvSpPr>
          <p:cNvPr id="123" name="Google Shape;123;g3f72dca9dbe_0_0"/>
          <p:cNvSpPr txBox="1"/>
          <p:nvPr/>
        </p:nvSpPr>
        <p:spPr>
          <a:xfrm>
            <a:off x="292150" y="506308"/>
            <a:ext cx="8520600" cy="57270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None/>
            </a:pPr>
            <a:r>
              <a:rPr b="1" lang="id">
                <a:solidFill>
                  <a:srgbClr val="18919B"/>
                </a:solidFill>
              </a:rPr>
              <a:t>Kasus 1: </a:t>
            </a:r>
            <a:r>
              <a:rPr b="1" lang="id">
                <a:solidFill>
                  <a:srgbClr val="18919B"/>
                </a:solidFill>
              </a:rPr>
              <a:t>Identifikasi Kota Penyumbang Revenue Terbesar </a:t>
            </a:r>
            <a:endParaRPr b="1">
              <a:solidFill>
                <a:srgbClr val="18919B"/>
              </a:solidFill>
            </a:endParaRPr>
          </a:p>
        </p:txBody>
      </p:sp>
      <p:sp>
        <p:nvSpPr>
          <p:cNvPr id="124" name="Google Shape;124;g3f72dca9dbe_0_0"/>
          <p:cNvSpPr txBox="1"/>
          <p:nvPr/>
        </p:nvSpPr>
        <p:spPr>
          <a:xfrm>
            <a:off x="212775" y="886208"/>
            <a:ext cx="8931300" cy="692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id" sz="1100">
                <a:solidFill>
                  <a:schemeClr val="dk1"/>
                </a:solidFill>
              </a:rPr>
              <a:t>Untuk mengetahui kota mana yang menghasilkan total nilai transaksi (revenue) tertinggi, dilakukan agregasi penjumlahan kolom sales berdasarkan kota. Data kemudian diurutkan secara Descending (menurun) dan dibatasi hanya memunculkan urutan pertama untuk mendapatkan "Top 1 City". </a:t>
            </a:r>
            <a:endParaRPr/>
          </a:p>
        </p:txBody>
      </p:sp>
      <p:pic>
        <p:nvPicPr>
          <p:cNvPr id="125" name="Google Shape;125;g3f72dca9dbe_0_0"/>
          <p:cNvPicPr preferRelativeResize="0"/>
          <p:nvPr/>
        </p:nvPicPr>
        <p:blipFill>
          <a:blip r:embed="rId4">
            <a:alphaModFix/>
          </a:blip>
          <a:stretch>
            <a:fillRect/>
          </a:stretch>
        </p:blipFill>
        <p:spPr>
          <a:xfrm>
            <a:off x="152400" y="1731308"/>
            <a:ext cx="8839202" cy="265176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g3f72dca9dbe_0_65"/>
          <p:cNvSpPr txBox="1"/>
          <p:nvPr/>
        </p:nvSpPr>
        <p:spPr>
          <a:xfrm>
            <a:off x="311700" y="138569"/>
            <a:ext cx="8520600" cy="57270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None/>
            </a:pPr>
            <a:r>
              <a:rPr b="1" lang="id" sz="1700">
                <a:solidFill>
                  <a:srgbClr val="18919B"/>
                </a:solidFill>
              </a:rPr>
              <a:t>Analisis Rata-rata Belanja Pelanggan di Kota Utama </a:t>
            </a:r>
            <a:endParaRPr b="1" sz="1820">
              <a:solidFill>
                <a:srgbClr val="18919B"/>
              </a:solidFill>
              <a:latin typeface="Roboto"/>
              <a:ea typeface="Roboto"/>
              <a:cs typeface="Roboto"/>
              <a:sym typeface="Roboto"/>
            </a:endParaRPr>
          </a:p>
        </p:txBody>
      </p:sp>
      <p:sp>
        <p:nvSpPr>
          <p:cNvPr id="131" name="Google Shape;131;g3f72dca9dbe_0_65"/>
          <p:cNvSpPr txBox="1"/>
          <p:nvPr/>
        </p:nvSpPr>
        <p:spPr>
          <a:xfrm>
            <a:off x="212775" y="4649600"/>
            <a:ext cx="1434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id" sz="1100" u="none" cap="none" strike="noStrike">
                <a:solidFill>
                  <a:srgbClr val="18919B"/>
                </a:solidFill>
                <a:latin typeface="Caveat"/>
                <a:ea typeface="Caveat"/>
                <a:cs typeface="Caveat"/>
                <a:sym typeface="Caveat"/>
              </a:rPr>
              <a:t>#RintisKarirImpian</a:t>
            </a:r>
            <a:endParaRPr b="1" i="0" sz="1100" u="none" cap="none" strike="noStrike">
              <a:solidFill>
                <a:srgbClr val="18919B"/>
              </a:solidFill>
              <a:latin typeface="Caveat"/>
              <a:ea typeface="Caveat"/>
              <a:cs typeface="Caveat"/>
              <a:sym typeface="Caveat"/>
            </a:endParaRPr>
          </a:p>
        </p:txBody>
      </p:sp>
      <p:pic>
        <p:nvPicPr>
          <p:cNvPr id="132" name="Google Shape;132;g3f72dca9dbe_0_65"/>
          <p:cNvPicPr preferRelativeResize="0"/>
          <p:nvPr/>
        </p:nvPicPr>
        <p:blipFill rotWithShape="1">
          <a:blip r:embed="rId3">
            <a:alphaModFix/>
          </a:blip>
          <a:srcRect b="0" l="0" r="0" t="0"/>
          <a:stretch/>
        </p:blipFill>
        <p:spPr>
          <a:xfrm>
            <a:off x="8410175" y="4803796"/>
            <a:ext cx="558450" cy="262804"/>
          </a:xfrm>
          <a:prstGeom prst="rect">
            <a:avLst/>
          </a:prstGeom>
          <a:noFill/>
          <a:ln>
            <a:noFill/>
          </a:ln>
        </p:spPr>
      </p:pic>
      <p:sp>
        <p:nvSpPr>
          <p:cNvPr id="133" name="Google Shape;133;g3f72dca9dbe_0_65"/>
          <p:cNvSpPr txBox="1"/>
          <p:nvPr/>
        </p:nvSpPr>
        <p:spPr>
          <a:xfrm>
            <a:off x="292150" y="506308"/>
            <a:ext cx="8520600" cy="57270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None/>
            </a:pPr>
            <a:r>
              <a:rPr b="1" lang="id">
                <a:solidFill>
                  <a:srgbClr val="18919B"/>
                </a:solidFill>
              </a:rPr>
              <a:t>Kasus 2: </a:t>
            </a:r>
            <a:r>
              <a:rPr b="1" lang="id">
                <a:solidFill>
                  <a:srgbClr val="18919B"/>
                </a:solidFill>
              </a:rPr>
              <a:t>Menghitung Rata-rata Spending Konsumen (Top City) </a:t>
            </a:r>
            <a:r>
              <a:rPr b="1" lang="id">
                <a:solidFill>
                  <a:srgbClr val="18919B"/>
                </a:solidFill>
              </a:rPr>
              <a:t> </a:t>
            </a:r>
            <a:endParaRPr b="1">
              <a:solidFill>
                <a:srgbClr val="18919B"/>
              </a:solidFill>
            </a:endParaRPr>
          </a:p>
        </p:txBody>
      </p:sp>
      <p:sp>
        <p:nvSpPr>
          <p:cNvPr id="134" name="Google Shape;134;g3f72dca9dbe_0_65"/>
          <p:cNvSpPr txBox="1"/>
          <p:nvPr/>
        </p:nvSpPr>
        <p:spPr>
          <a:xfrm>
            <a:off x="212775" y="886208"/>
            <a:ext cx="8931300" cy="692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id" sz="1100">
                <a:solidFill>
                  <a:schemeClr val="dk1"/>
                </a:solidFill>
              </a:rPr>
              <a:t>Setelah menemukan kota dengan </a:t>
            </a:r>
            <a:r>
              <a:rPr i="1" lang="id" sz="1100">
                <a:solidFill>
                  <a:schemeClr val="dk1"/>
                </a:solidFill>
              </a:rPr>
              <a:t>revenue</a:t>
            </a:r>
            <a:r>
              <a:rPr lang="id" sz="1100">
                <a:solidFill>
                  <a:schemeClr val="dk1"/>
                </a:solidFill>
              </a:rPr>
              <a:t> tertinggi (misal: New York City), langkah selanjutnya adalah menghitung rata-rata daya beli konsumen di sana. Untuk membuat </a:t>
            </a:r>
            <a:r>
              <a:rPr i="1" lang="id" sz="1100">
                <a:solidFill>
                  <a:schemeClr val="dk1"/>
                </a:solidFill>
              </a:rPr>
              <a:t>query</a:t>
            </a:r>
            <a:r>
              <a:rPr lang="id" sz="1100">
                <a:solidFill>
                  <a:schemeClr val="dk1"/>
                </a:solidFill>
              </a:rPr>
              <a:t> yang elegan dan efisien, digunakan teknik CTE (Common Table Expression) menggunakan klausa WITH. Teknik ini membuat tabel sementara berisi total belanja masing-masing konsumen, yang kemudian dirata-rata pada </a:t>
            </a:r>
            <a:r>
              <a:rPr i="1" lang="id" sz="1100">
                <a:solidFill>
                  <a:schemeClr val="dk1"/>
                </a:solidFill>
              </a:rPr>
              <a:t>query</a:t>
            </a:r>
            <a:r>
              <a:rPr lang="id" sz="1100">
                <a:solidFill>
                  <a:schemeClr val="dk1"/>
                </a:solidFill>
              </a:rPr>
              <a:t> utama.</a:t>
            </a:r>
            <a:endParaRPr/>
          </a:p>
        </p:txBody>
      </p:sp>
      <p:pic>
        <p:nvPicPr>
          <p:cNvPr id="135" name="Google Shape;135;g3f72dca9dbe_0_65"/>
          <p:cNvPicPr preferRelativeResize="0"/>
          <p:nvPr/>
        </p:nvPicPr>
        <p:blipFill>
          <a:blip r:embed="rId4">
            <a:alphaModFix/>
          </a:blip>
          <a:stretch>
            <a:fillRect/>
          </a:stretch>
        </p:blipFill>
        <p:spPr>
          <a:xfrm>
            <a:off x="152400" y="1731308"/>
            <a:ext cx="8839198" cy="24615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g3f72dca9dbe_0_130"/>
          <p:cNvSpPr txBox="1"/>
          <p:nvPr/>
        </p:nvSpPr>
        <p:spPr>
          <a:xfrm>
            <a:off x="311700" y="138569"/>
            <a:ext cx="8520600" cy="57270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None/>
            </a:pPr>
            <a:r>
              <a:rPr b="1" lang="id" sz="1700">
                <a:solidFill>
                  <a:srgbClr val="18919B"/>
                </a:solidFill>
              </a:rPr>
              <a:t>Segmentasi Pelanggan Premium (High-Value Customers) </a:t>
            </a:r>
            <a:endParaRPr b="1" sz="1820">
              <a:solidFill>
                <a:srgbClr val="18919B"/>
              </a:solidFill>
              <a:latin typeface="Roboto"/>
              <a:ea typeface="Roboto"/>
              <a:cs typeface="Roboto"/>
              <a:sym typeface="Roboto"/>
            </a:endParaRPr>
          </a:p>
        </p:txBody>
      </p:sp>
      <p:sp>
        <p:nvSpPr>
          <p:cNvPr id="141" name="Google Shape;141;g3f72dca9dbe_0_130"/>
          <p:cNvSpPr txBox="1"/>
          <p:nvPr/>
        </p:nvSpPr>
        <p:spPr>
          <a:xfrm>
            <a:off x="212775" y="4649600"/>
            <a:ext cx="1434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id" sz="1100" u="none" cap="none" strike="noStrike">
                <a:solidFill>
                  <a:srgbClr val="18919B"/>
                </a:solidFill>
                <a:latin typeface="Caveat"/>
                <a:ea typeface="Caveat"/>
                <a:cs typeface="Caveat"/>
                <a:sym typeface="Caveat"/>
              </a:rPr>
              <a:t>#RintisKarirImpian</a:t>
            </a:r>
            <a:endParaRPr b="1" i="0" sz="1100" u="none" cap="none" strike="noStrike">
              <a:solidFill>
                <a:srgbClr val="18919B"/>
              </a:solidFill>
              <a:latin typeface="Caveat"/>
              <a:ea typeface="Caveat"/>
              <a:cs typeface="Caveat"/>
              <a:sym typeface="Caveat"/>
            </a:endParaRPr>
          </a:p>
        </p:txBody>
      </p:sp>
      <p:pic>
        <p:nvPicPr>
          <p:cNvPr id="142" name="Google Shape;142;g3f72dca9dbe_0_130"/>
          <p:cNvPicPr preferRelativeResize="0"/>
          <p:nvPr/>
        </p:nvPicPr>
        <p:blipFill rotWithShape="1">
          <a:blip r:embed="rId3">
            <a:alphaModFix/>
          </a:blip>
          <a:srcRect b="0" l="0" r="0" t="0"/>
          <a:stretch/>
        </p:blipFill>
        <p:spPr>
          <a:xfrm>
            <a:off x="8410175" y="4803796"/>
            <a:ext cx="558450" cy="262804"/>
          </a:xfrm>
          <a:prstGeom prst="rect">
            <a:avLst/>
          </a:prstGeom>
          <a:noFill/>
          <a:ln>
            <a:noFill/>
          </a:ln>
        </p:spPr>
      </p:pic>
      <p:sp>
        <p:nvSpPr>
          <p:cNvPr id="143" name="Google Shape;143;g3f72dca9dbe_0_130"/>
          <p:cNvSpPr txBox="1"/>
          <p:nvPr/>
        </p:nvSpPr>
        <p:spPr>
          <a:xfrm>
            <a:off x="292150" y="506308"/>
            <a:ext cx="8520600" cy="57270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None/>
            </a:pPr>
            <a:r>
              <a:rPr b="1" lang="id">
                <a:solidFill>
                  <a:srgbClr val="18919B"/>
                </a:solidFill>
              </a:rPr>
              <a:t>Kasus 3: </a:t>
            </a:r>
            <a:r>
              <a:rPr b="1" lang="id">
                <a:solidFill>
                  <a:srgbClr val="18919B"/>
                </a:solidFill>
              </a:rPr>
              <a:t>Mengidentifikasi Pelanggan dengan Daya Beli di Atas Rata-rata </a:t>
            </a:r>
            <a:endParaRPr b="1">
              <a:solidFill>
                <a:srgbClr val="18919B"/>
              </a:solidFill>
            </a:endParaRPr>
          </a:p>
        </p:txBody>
      </p:sp>
      <p:sp>
        <p:nvSpPr>
          <p:cNvPr id="144" name="Google Shape;144;g3f72dca9dbe_0_130"/>
          <p:cNvSpPr txBox="1"/>
          <p:nvPr/>
        </p:nvSpPr>
        <p:spPr>
          <a:xfrm>
            <a:off x="212775" y="886208"/>
            <a:ext cx="8931300" cy="692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id" sz="1100">
                <a:solidFill>
                  <a:schemeClr val="dk1"/>
                </a:solidFill>
              </a:rPr>
              <a:t>Tahap akhir dari analisis berantai ini adalah menarik daftar nama konsumen yang masuk dalam kategori "High-Value" (total belanjanya melampaui rata-rata kota tersebut). </a:t>
            </a:r>
            <a:r>
              <a:rPr i="1" lang="id" sz="1100">
                <a:solidFill>
                  <a:schemeClr val="dk1"/>
                </a:solidFill>
              </a:rPr>
              <a:t>Query</a:t>
            </a:r>
            <a:r>
              <a:rPr lang="id" sz="1100">
                <a:solidFill>
                  <a:schemeClr val="dk1"/>
                </a:solidFill>
              </a:rPr>
              <a:t> ini menggunakan Subquery di dalam klausa WHERE, di mana total belanja masing-masing orang akan dibandingkan secara otomatis dan dinamis dengan angka rata-rata yang telah dihitung sebelumnya. </a:t>
            </a:r>
            <a:endParaRPr/>
          </a:p>
        </p:txBody>
      </p:sp>
      <p:pic>
        <p:nvPicPr>
          <p:cNvPr id="145" name="Google Shape;145;g3f72dca9dbe_0_130"/>
          <p:cNvPicPr preferRelativeResize="0"/>
          <p:nvPr/>
        </p:nvPicPr>
        <p:blipFill>
          <a:blip r:embed="rId4">
            <a:alphaModFix/>
          </a:blip>
          <a:stretch>
            <a:fillRect/>
          </a:stretch>
        </p:blipFill>
        <p:spPr>
          <a:xfrm>
            <a:off x="1546401" y="1616750"/>
            <a:ext cx="6012102" cy="34498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