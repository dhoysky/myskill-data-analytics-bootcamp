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Caveat"/>
      <p:regular r:id="rId16"/>
      <p:bold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j3HfoGfdWh8K0NH1XsoMntohK1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OpenSans-boldItalic.fntdata"/><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Caveat-bold.fntdata"/><Relationship Id="rId16" Type="http://schemas.openxmlformats.org/officeDocument/2006/relationships/font" Target="fonts/Caveat-regular.fntdata"/><Relationship Id="rId5" Type="http://schemas.openxmlformats.org/officeDocument/2006/relationships/notesMaster" Target="notesMasters/notesMaster1.xml"/><Relationship Id="rId19" Type="http://schemas.openxmlformats.org/officeDocument/2006/relationships/font" Target="fonts/OpenSans-bold.fntdata"/><Relationship Id="rId6" Type="http://schemas.openxmlformats.org/officeDocument/2006/relationships/slide" Target="slides/slide1.xml"/><Relationship Id="rId18"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72cd064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72cd064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72cd0640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72cd0640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72cd0640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72cd0640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6"/>
          <p:cNvSpPr txBox="1"/>
          <p:nvPr>
            <p:ph type="title"/>
          </p:nvPr>
        </p:nvSpPr>
        <p:spPr>
          <a:xfrm>
            <a:off x="438150" y="1609089"/>
            <a:ext cx="8267700" cy="1977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1" i="0" sz="6400">
                <a:solidFill>
                  <a:schemeClr val="lt1"/>
                </a:solidFill>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6"/>
          <p:cNvSpPr txBox="1"/>
          <p:nvPr>
            <p:ph idx="1" type="body"/>
          </p:nvPr>
        </p:nvSpPr>
        <p:spPr>
          <a:xfrm>
            <a:off x="388937" y="1603438"/>
            <a:ext cx="8366100" cy="17634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1" i="0" sz="5700">
                <a:solidFill>
                  <a:schemeClr val="lt1"/>
                </a:solidFill>
                <a:latin typeface="Roboto"/>
                <a:ea typeface="Roboto"/>
                <a:cs typeface="Roboto"/>
                <a:sym typeface="Roboto"/>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
        <p:nvSpPr>
          <p:cNvPr id="14" name="Google Shape;14;p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6"/>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jp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hyperlink" Target="https://docs.google.com/spreadsheets/u/0/d/19U8UoWqUd3p9m3qFz-cHFjUzH2-uKm5wMLPZJTfANWQ/ed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B0A6"/>
        </a:solidFill>
      </p:bgPr>
    </p:bg>
    <p:spTree>
      <p:nvGrpSpPr>
        <p:cNvPr id="60" name="Shape 60"/>
        <p:cNvGrpSpPr/>
        <p:nvPr/>
      </p:nvGrpSpPr>
      <p:grpSpPr>
        <a:xfrm>
          <a:off x="0" y="0"/>
          <a:ext cx="0" cy="0"/>
          <a:chOff x="0" y="0"/>
          <a:chExt cx="0" cy="0"/>
        </a:xfrm>
      </p:grpSpPr>
      <p:sp>
        <p:nvSpPr>
          <p:cNvPr id="61" name="Google Shape;61;p1"/>
          <p:cNvSpPr/>
          <p:nvPr/>
        </p:nvSpPr>
        <p:spPr>
          <a:xfrm>
            <a:off x="2464027" y="1138664"/>
            <a:ext cx="4050536" cy="3979652"/>
          </a:xfrm>
          <a:custGeom>
            <a:rect b="b" l="l" r="r" t="t"/>
            <a:pathLst>
              <a:path extrusionOk="0" h="7959303" w="8101072">
                <a:moveTo>
                  <a:pt x="0" y="0"/>
                </a:moveTo>
                <a:lnTo>
                  <a:pt x="8101072" y="0"/>
                </a:lnTo>
                <a:lnTo>
                  <a:pt x="8101072" y="7959303"/>
                </a:lnTo>
                <a:lnTo>
                  <a:pt x="0" y="7959303"/>
                </a:lnTo>
                <a:lnTo>
                  <a:pt x="0" y="0"/>
                </a:lnTo>
                <a:close/>
              </a:path>
            </a:pathLst>
          </a:custGeom>
          <a:blipFill rotWithShape="1">
            <a:blip r:embed="rId3">
              <a:alphaModFix amt="81000"/>
            </a:blip>
            <a:stretch>
              <a:fillRect b="0" l="0" r="0" t="0"/>
            </a:stretch>
          </a:blipFill>
          <a:ln>
            <a:noFill/>
          </a:ln>
        </p:spPr>
      </p:sp>
      <p:sp>
        <p:nvSpPr>
          <p:cNvPr id="62" name="Google Shape;62;p1"/>
          <p:cNvSpPr/>
          <p:nvPr/>
        </p:nvSpPr>
        <p:spPr>
          <a:xfrm>
            <a:off x="-1486429" y="-2463857"/>
            <a:ext cx="6794500" cy="6794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alpha val="6667"/>
            </a:srgbClr>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3851993" y="167243"/>
            <a:ext cx="922357" cy="404684"/>
          </a:xfrm>
          <a:custGeom>
            <a:rect b="b" l="l" r="r" t="t"/>
            <a:pathLst>
              <a:path extrusionOk="0" h="809368" w="1844714">
                <a:moveTo>
                  <a:pt x="0" y="0"/>
                </a:moveTo>
                <a:lnTo>
                  <a:pt x="1844714" y="0"/>
                </a:lnTo>
                <a:lnTo>
                  <a:pt x="1844714" y="809368"/>
                </a:lnTo>
                <a:lnTo>
                  <a:pt x="0" y="809368"/>
                </a:lnTo>
                <a:lnTo>
                  <a:pt x="0" y="0"/>
                </a:lnTo>
                <a:close/>
              </a:path>
            </a:pathLst>
          </a:custGeom>
          <a:blipFill rotWithShape="1">
            <a:blip r:embed="rId4">
              <a:alphaModFix/>
            </a:blip>
            <a:stretch>
              <a:fillRect b="0" l="0" r="0" t="0"/>
            </a:stretch>
          </a:blipFill>
          <a:ln>
            <a:noFill/>
          </a:ln>
        </p:spPr>
      </p:sp>
      <p:cxnSp>
        <p:nvCxnSpPr>
          <p:cNvPr id="64" name="Google Shape;64;p1"/>
          <p:cNvCxnSpPr/>
          <p:nvPr/>
        </p:nvCxnSpPr>
        <p:spPr>
          <a:xfrm>
            <a:off x="4937899" y="230112"/>
            <a:ext cx="0" cy="279000"/>
          </a:xfrm>
          <a:prstGeom prst="straightConnector1">
            <a:avLst/>
          </a:prstGeom>
          <a:noFill/>
          <a:ln cap="flat" cmpd="sng" w="19050">
            <a:solidFill>
              <a:srgbClr val="FFFFFF"/>
            </a:solidFill>
            <a:prstDash val="solid"/>
            <a:round/>
            <a:headEnd len="sm" w="sm" type="none"/>
            <a:tailEnd len="sm" w="sm" type="none"/>
          </a:ln>
        </p:spPr>
      </p:cxnSp>
      <p:sp>
        <p:nvSpPr>
          <p:cNvPr id="65" name="Google Shape;65;p1"/>
          <p:cNvSpPr txBox="1"/>
          <p:nvPr/>
        </p:nvSpPr>
        <p:spPr>
          <a:xfrm>
            <a:off x="5099824" y="205086"/>
            <a:ext cx="2213100" cy="246300"/>
          </a:xfrm>
          <a:prstGeom prst="rect">
            <a:avLst/>
          </a:prstGeom>
          <a:noFill/>
          <a:ln>
            <a:noFill/>
          </a:ln>
        </p:spPr>
        <p:txBody>
          <a:bodyPr anchorCtr="0" anchor="t" bIns="0" lIns="0" spcFirstLastPara="1" rIns="0" wrap="square" tIns="0">
            <a:spAutoFit/>
          </a:bodyPr>
          <a:lstStyle/>
          <a:p>
            <a:pPr indent="0" lvl="0" marL="0" marR="0" rtl="0" algn="l">
              <a:lnSpc>
                <a:spcPct val="133012"/>
              </a:lnSpc>
              <a:spcBef>
                <a:spcPts val="0"/>
              </a:spcBef>
              <a:spcAft>
                <a:spcPts val="0"/>
              </a:spcAft>
              <a:buClr>
                <a:srgbClr val="000000"/>
              </a:buClr>
              <a:buSzPts val="1600"/>
              <a:buFont typeface="Arial"/>
              <a:buNone/>
            </a:pPr>
            <a:r>
              <a:rPr b="0" i="0" lang="id" sz="1600" u="none" cap="none" strike="noStrike">
                <a:solidFill>
                  <a:srgbClr val="FFFFFF"/>
                </a:solidFill>
                <a:latin typeface="Caveat"/>
                <a:ea typeface="Caveat"/>
                <a:cs typeface="Caveat"/>
                <a:sym typeface="Caveat"/>
              </a:rPr>
              <a:t>#RintisKarirImpian</a:t>
            </a:r>
            <a:endParaRPr b="0" i="0" sz="700" u="none" cap="none" strike="noStrike">
              <a:solidFill>
                <a:srgbClr val="000000"/>
              </a:solidFill>
              <a:latin typeface="Arial"/>
              <a:ea typeface="Arial"/>
              <a:cs typeface="Arial"/>
              <a:sym typeface="Arial"/>
            </a:endParaRPr>
          </a:p>
        </p:txBody>
      </p:sp>
      <p:pic>
        <p:nvPicPr>
          <p:cNvPr id="66" name="Google Shape;66;p1"/>
          <p:cNvPicPr preferRelativeResize="0"/>
          <p:nvPr/>
        </p:nvPicPr>
        <p:blipFill rotWithShape="1">
          <a:blip r:embed="rId5">
            <a:alphaModFix/>
          </a:blip>
          <a:srcRect b="0" l="56641" r="0" t="0"/>
          <a:stretch/>
        </p:blipFill>
        <p:spPr>
          <a:xfrm>
            <a:off x="0" y="-169046"/>
            <a:ext cx="3560601" cy="5481591"/>
          </a:xfrm>
          <a:prstGeom prst="rect">
            <a:avLst/>
          </a:prstGeom>
          <a:noFill/>
          <a:ln>
            <a:noFill/>
          </a:ln>
        </p:spPr>
      </p:pic>
      <p:sp>
        <p:nvSpPr>
          <p:cNvPr id="67" name="Google Shape;67;p1"/>
          <p:cNvSpPr/>
          <p:nvPr/>
        </p:nvSpPr>
        <p:spPr>
          <a:xfrm>
            <a:off x="3560603" y="1449959"/>
            <a:ext cx="7654829" cy="2243582"/>
          </a:xfrm>
          <a:custGeom>
            <a:rect b="b" l="l" r="r" t="t"/>
            <a:pathLst>
              <a:path extrusionOk="0" h="4487164" w="15309658">
                <a:moveTo>
                  <a:pt x="0" y="0"/>
                </a:moveTo>
                <a:lnTo>
                  <a:pt x="15309658" y="0"/>
                </a:lnTo>
                <a:lnTo>
                  <a:pt x="15309658" y="4487164"/>
                </a:lnTo>
                <a:lnTo>
                  <a:pt x="0" y="4487164"/>
                </a:lnTo>
                <a:lnTo>
                  <a:pt x="0" y="0"/>
                </a:lnTo>
                <a:close/>
              </a:path>
            </a:pathLst>
          </a:custGeom>
          <a:blipFill rotWithShape="1">
            <a:blip r:embed="rId6">
              <a:alphaModFix amt="70000"/>
            </a:blip>
            <a:stretch>
              <a:fillRect b="0" l="-22118" r="0" t="0"/>
            </a:stretch>
          </a:blipFill>
          <a:ln>
            <a:noFill/>
          </a:ln>
        </p:spPr>
      </p:sp>
      <p:sp>
        <p:nvSpPr>
          <p:cNvPr id="68" name="Google Shape;68;p1"/>
          <p:cNvSpPr txBox="1"/>
          <p:nvPr/>
        </p:nvSpPr>
        <p:spPr>
          <a:xfrm>
            <a:off x="3792125" y="1575500"/>
            <a:ext cx="5115900" cy="19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4800"/>
              <a:buFont typeface="Arial"/>
              <a:buNone/>
            </a:pPr>
            <a:r>
              <a:rPr b="1" i="0" lang="id" sz="4800" u="none" cap="none" strike="noStrike">
                <a:solidFill>
                  <a:schemeClr val="lt1"/>
                </a:solidFill>
                <a:latin typeface="Roboto"/>
                <a:ea typeface="Roboto"/>
                <a:cs typeface="Roboto"/>
                <a:sym typeface="Roboto"/>
              </a:rPr>
              <a:t>SQL For Data Analysis 1</a:t>
            </a:r>
            <a:endParaRPr b="1" i="0" sz="5000" u="none" cap="none" strike="noStrike">
              <a:solidFill>
                <a:schemeClr val="lt1"/>
              </a:solidFill>
              <a:latin typeface="Roboto"/>
              <a:ea typeface="Roboto"/>
              <a:cs typeface="Roboto"/>
              <a:sym typeface="Roboto"/>
            </a:endParaRPr>
          </a:p>
        </p:txBody>
      </p:sp>
      <p:sp>
        <p:nvSpPr>
          <p:cNvPr id="69" name="Google Shape;69;p1"/>
          <p:cNvSpPr txBox="1"/>
          <p:nvPr/>
        </p:nvSpPr>
        <p:spPr>
          <a:xfrm>
            <a:off x="3792125" y="799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Portofolio - Intensive Bootcamp</a:t>
            </a:r>
            <a:endParaRPr b="1" i="0" sz="2300" u="none" cap="none" strike="noStrike">
              <a:solidFill>
                <a:srgbClr val="000000"/>
              </a:solidFill>
              <a:latin typeface="Open Sans"/>
              <a:ea typeface="Open Sans"/>
              <a:cs typeface="Open Sans"/>
              <a:sym typeface="Open Sans"/>
            </a:endParaRPr>
          </a:p>
        </p:txBody>
      </p:sp>
      <p:sp>
        <p:nvSpPr>
          <p:cNvPr id="70" name="Google Shape;70;p1"/>
          <p:cNvSpPr txBox="1"/>
          <p:nvPr/>
        </p:nvSpPr>
        <p:spPr>
          <a:xfrm>
            <a:off x="3792125" y="3812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Owner:</a:t>
            </a:r>
            <a:r>
              <a:rPr b="1" i="0" lang="id" sz="2000" u="none" cap="none" strike="noStrike">
                <a:solidFill>
                  <a:srgbClr val="FFFFFF"/>
                </a:solidFill>
                <a:latin typeface="Open Sans"/>
                <a:ea typeface="Open Sans"/>
                <a:cs typeface="Open Sans"/>
                <a:sym typeface="Open Sans"/>
              </a:rPr>
              <a:t> </a:t>
            </a:r>
            <a:r>
              <a:rPr lang="id" sz="2000">
                <a:solidFill>
                  <a:srgbClr val="FFFFFF"/>
                </a:solidFill>
                <a:latin typeface="Open Sans"/>
                <a:ea typeface="Open Sans"/>
                <a:cs typeface="Open Sans"/>
                <a:sym typeface="Open Sans"/>
              </a:rPr>
              <a:t>Muhammad Ferdy Fawwaz</a:t>
            </a:r>
            <a:endParaRPr b="0" i="0" sz="2300" u="none" cap="none" strike="noStrike">
              <a:solidFill>
                <a:srgbClr val="000000"/>
              </a:solidFill>
              <a:latin typeface="Open Sans"/>
              <a:ea typeface="Open Sans"/>
              <a:cs typeface="Open Sans"/>
              <a:sym typeface="Open Sans"/>
            </a:endParaRPr>
          </a:p>
        </p:txBody>
      </p:sp>
      <p:sp>
        <p:nvSpPr>
          <p:cNvPr id="71" name="Google Shape;71;p1"/>
          <p:cNvSpPr txBox="1"/>
          <p:nvPr/>
        </p:nvSpPr>
        <p:spPr>
          <a:xfrm>
            <a:off x="3792125" y="441275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d" sz="1400" u="none" cap="none" strike="noStrike">
                <a:solidFill>
                  <a:srgbClr val="000000"/>
                </a:solidFill>
                <a:highlight>
                  <a:srgbClr val="FFF2CC"/>
                </a:highlight>
                <a:latin typeface="Arial"/>
                <a:ea typeface="Arial"/>
                <a:cs typeface="Arial"/>
                <a:sym typeface="Arial"/>
              </a:rPr>
              <a:t>Build your skill and portfolio via myskill.id/bootcamp</a:t>
            </a:r>
            <a:endParaRPr b="0" i="0" sz="1400" u="none" cap="none" strike="noStrike">
              <a:solidFill>
                <a:srgbClr val="000000"/>
              </a:solidFill>
              <a:highlight>
                <a:srgbClr val="FFF2CC"/>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grpSp>
        <p:nvGrpSpPr>
          <p:cNvPr id="76" name="Google Shape;76;p2"/>
          <p:cNvGrpSpPr/>
          <p:nvPr/>
        </p:nvGrpSpPr>
        <p:grpSpPr>
          <a:xfrm>
            <a:off x="3854590" y="4740703"/>
            <a:ext cx="1434817" cy="389011"/>
            <a:chOff x="3248325" y="4588800"/>
            <a:chExt cx="2045939" cy="554700"/>
          </a:xfrm>
        </p:grpSpPr>
        <p:sp>
          <p:nvSpPr>
            <p:cNvPr id="77" name="Google Shape;77;p2"/>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2"/>
          <p:cNvGrpSpPr/>
          <p:nvPr/>
        </p:nvGrpSpPr>
        <p:grpSpPr>
          <a:xfrm>
            <a:off x="8325085" y="65154"/>
            <a:ext cx="763768" cy="752531"/>
            <a:chOff x="695950" y="3458000"/>
            <a:chExt cx="966550" cy="952450"/>
          </a:xfrm>
        </p:grpSpPr>
        <p:sp>
          <p:nvSpPr>
            <p:cNvPr id="81" name="Google Shape;81;p2"/>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2"/>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91" name="Google Shape;91;p2"/>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92" name="Google Shape;92;p2"/>
          <p:cNvSpPr txBox="1"/>
          <p:nvPr/>
        </p:nvSpPr>
        <p:spPr>
          <a:xfrm>
            <a:off x="278025" y="454325"/>
            <a:ext cx="8462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600"/>
              <a:buFont typeface="Arial"/>
              <a:buNone/>
            </a:pPr>
            <a:r>
              <a:rPr b="1" i="0" lang="id" sz="2800" u="none" cap="none" strike="noStrike">
                <a:solidFill>
                  <a:srgbClr val="17919B"/>
                </a:solidFill>
                <a:latin typeface="Roboto"/>
                <a:ea typeface="Roboto"/>
                <a:cs typeface="Roboto"/>
                <a:sym typeface="Roboto"/>
              </a:rPr>
              <a:t>Petunjuk Pengerjaan</a:t>
            </a:r>
            <a:endParaRPr b="1" i="0" sz="2800" u="none" cap="none" strike="noStrike">
              <a:solidFill>
                <a:srgbClr val="FFFFFF"/>
              </a:solidFill>
              <a:latin typeface="Roboto"/>
              <a:ea typeface="Roboto"/>
              <a:cs typeface="Roboto"/>
              <a:sym typeface="Roboto"/>
            </a:endParaRPr>
          </a:p>
        </p:txBody>
      </p:sp>
      <p:sp>
        <p:nvSpPr>
          <p:cNvPr id="93" name="Google Shape;93;p2"/>
          <p:cNvSpPr txBox="1"/>
          <p:nvPr/>
        </p:nvSpPr>
        <p:spPr>
          <a:xfrm>
            <a:off x="212775" y="1001700"/>
            <a:ext cx="8462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id" sz="1200" u="none" cap="none" strike="noStrike">
                <a:solidFill>
                  <a:srgbClr val="000000"/>
                </a:solidFill>
                <a:latin typeface="Roboto"/>
                <a:ea typeface="Roboto"/>
                <a:cs typeface="Roboto"/>
                <a:sym typeface="Roboto"/>
              </a:rPr>
              <a:t>Dokumen ini memang tidak open access untuk edit, maka silahkan copy file ini lalu kerjakanlah pada device masing-masing, dengan cara klik </a:t>
            </a:r>
            <a:r>
              <a:rPr b="1" i="0" lang="id" sz="1200" u="none" cap="none" strike="noStrike">
                <a:solidFill>
                  <a:srgbClr val="18919B"/>
                </a:solidFill>
                <a:latin typeface="Roboto"/>
                <a:ea typeface="Roboto"/>
                <a:cs typeface="Roboto"/>
                <a:sym typeface="Roboto"/>
              </a:rPr>
              <a:t>File</a:t>
            </a:r>
            <a:r>
              <a:rPr b="0" i="0" lang="id" sz="1200" u="none" cap="none" strike="noStrike">
                <a:solidFill>
                  <a:srgbClr val="000000"/>
                </a:solidFill>
                <a:latin typeface="Roboto"/>
                <a:ea typeface="Roboto"/>
                <a:cs typeface="Roboto"/>
                <a:sym typeface="Roboto"/>
              </a:rPr>
              <a:t> pada pojok kiri atas, pilih </a:t>
            </a:r>
            <a:r>
              <a:rPr b="1" i="0" lang="id" sz="1200" u="none" cap="none" strike="noStrike">
                <a:solidFill>
                  <a:srgbClr val="18919B"/>
                </a:solidFill>
                <a:latin typeface="Roboto"/>
                <a:ea typeface="Roboto"/>
                <a:cs typeface="Roboto"/>
                <a:sym typeface="Roboto"/>
              </a:rPr>
              <a:t>Make a Copy</a:t>
            </a:r>
            <a:r>
              <a:rPr b="0" i="0" lang="id" sz="1200" u="none" cap="none" strike="noStrike">
                <a:solidFill>
                  <a:srgbClr val="000000"/>
                </a:solidFill>
                <a:latin typeface="Roboto"/>
                <a:ea typeface="Roboto"/>
                <a:cs typeface="Roboto"/>
                <a:sym typeface="Roboto"/>
              </a:rPr>
              <a:t>. Setelah file berhasil di copy, ubah nama sesuai nama masing-masing.</a:t>
            </a:r>
            <a:br>
              <a:rPr b="0" i="0" lang="id" sz="1200" u="none" cap="none" strike="noStrike">
                <a:solidFill>
                  <a:srgbClr val="000000"/>
                </a:solidFill>
                <a:latin typeface="Roboto"/>
                <a:ea typeface="Roboto"/>
                <a:cs typeface="Roboto"/>
                <a:sym typeface="Roboto"/>
              </a:rPr>
            </a:br>
            <a:br>
              <a:rPr b="0" i="0" lang="id" sz="1200" u="none" cap="none" strike="noStrike">
                <a:solidFill>
                  <a:srgbClr val="000000"/>
                </a:solidFill>
                <a:latin typeface="Roboto"/>
                <a:ea typeface="Roboto"/>
                <a:cs typeface="Roboto"/>
                <a:sym typeface="Roboto"/>
              </a:rPr>
            </a:br>
            <a:r>
              <a:rPr b="1" i="0" lang="id" sz="1200" u="none" cap="none" strike="noStrike">
                <a:solidFill>
                  <a:srgbClr val="18919B"/>
                </a:solidFill>
                <a:latin typeface="Roboto"/>
                <a:ea typeface="Roboto"/>
                <a:cs typeface="Roboto"/>
                <a:sym typeface="Roboto"/>
              </a:rPr>
              <a:t>Untuk mengerjakan, perhatikan petunjuk dibawah ini:</a:t>
            </a:r>
            <a:endParaRPr b="1" i="0" sz="1200" u="none" cap="none" strike="noStrike">
              <a:solidFill>
                <a:srgbClr val="18919B"/>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Jawablah masing-masing pertanyaan di slide selanjutnya berdasarkan pengetahuanmu dan berdasarkan apa yang kamu pahami pada materi tiap sesi. </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Set pengaturan akses file sebagai </a:t>
            </a:r>
            <a:r>
              <a:rPr b="1" i="0" lang="id" sz="1200" u="none" cap="none" strike="noStrike">
                <a:solidFill>
                  <a:srgbClr val="18919B"/>
                </a:solidFill>
                <a:latin typeface="Roboto"/>
                <a:ea typeface="Roboto"/>
                <a:cs typeface="Roboto"/>
                <a:sym typeface="Roboto"/>
              </a:rPr>
              <a:t>Publik</a:t>
            </a:r>
            <a:r>
              <a:rPr b="0" i="0" lang="id" sz="1200" u="none" cap="none" strike="noStrike">
                <a:solidFill>
                  <a:schemeClr val="dk1"/>
                </a:solidFill>
                <a:latin typeface="Roboto"/>
                <a:ea typeface="Roboto"/>
                <a:cs typeface="Roboto"/>
                <a:sym typeface="Roboto"/>
              </a:rPr>
              <a:t> namun cukup </a:t>
            </a:r>
            <a:r>
              <a:rPr b="1" i="0" lang="id" sz="1200" u="none" cap="none" strike="noStrike">
                <a:solidFill>
                  <a:srgbClr val="18919B"/>
                </a:solidFill>
                <a:latin typeface="Roboto"/>
                <a:ea typeface="Roboto"/>
                <a:cs typeface="Roboto"/>
                <a:sym typeface="Roboto"/>
              </a:rPr>
              <a:t>View Only </a:t>
            </a:r>
            <a:r>
              <a:rPr b="0" i="0" lang="id" sz="1200" u="none" cap="none" strike="noStrike">
                <a:solidFill>
                  <a:schemeClr val="dk1"/>
                </a:solidFill>
                <a:latin typeface="Roboto"/>
                <a:ea typeface="Roboto"/>
                <a:cs typeface="Roboto"/>
                <a:sym typeface="Roboto"/>
              </a:rPr>
              <a:t>agar tugas dapat dicek oleh Class Assistant.</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Silahkan kirim link sheet mini task berikut di form pengumpulan mini task yang sudah tersedia di</a:t>
            </a:r>
            <a:r>
              <a:rPr b="1" i="0" lang="id" sz="1200" u="none" cap="none" strike="noStrike">
                <a:solidFill>
                  <a:schemeClr val="dk1"/>
                </a:solidFill>
                <a:latin typeface="Roboto"/>
                <a:ea typeface="Roboto"/>
                <a:cs typeface="Roboto"/>
                <a:sym typeface="Roboto"/>
              </a:rPr>
              <a:t> </a:t>
            </a:r>
            <a:r>
              <a:rPr b="1" i="0" lang="id" sz="1200" u="sng" cap="none" strike="noStrike">
                <a:solidFill>
                  <a:schemeClr val="hlink"/>
                </a:solidFill>
                <a:latin typeface="Roboto"/>
                <a:ea typeface="Roboto"/>
                <a:cs typeface="Roboto"/>
                <a:sym typeface="Roboto"/>
                <a:hlinkClick r:id="rId4"/>
              </a:rPr>
              <a:t>To Do List bootcamp Data Analysis batch 21.</a:t>
            </a:r>
            <a:endParaRPr b="1"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Upload pekerjaanmu di LinkedIn dan tag </a:t>
            </a:r>
            <a:r>
              <a:rPr b="1" i="0" lang="id" sz="1200" u="none" cap="none" strike="noStrike">
                <a:solidFill>
                  <a:srgbClr val="18919B"/>
                </a:solidFill>
                <a:latin typeface="Roboto"/>
                <a:ea typeface="Roboto"/>
                <a:cs typeface="Roboto"/>
                <a:sym typeface="Roboto"/>
              </a:rPr>
              <a:t>@MySkill</a:t>
            </a:r>
            <a:r>
              <a:rPr b="0" i="0" lang="id" sz="1200" u="none" cap="none" strike="noStrike">
                <a:solidFill>
                  <a:schemeClr val="dk1"/>
                </a:solidFill>
                <a:latin typeface="Roboto"/>
                <a:ea typeface="Roboto"/>
                <a:cs typeface="Roboto"/>
                <a:sym typeface="Roboto"/>
              </a:rPr>
              <a:t> juga </a:t>
            </a:r>
            <a:r>
              <a:rPr b="1" i="0" lang="id" sz="1200" u="none" cap="none" strike="noStrike">
                <a:solidFill>
                  <a:srgbClr val="18919B"/>
                </a:solidFill>
                <a:latin typeface="Roboto"/>
                <a:ea typeface="Roboto"/>
                <a:cs typeface="Roboto"/>
                <a:sym typeface="Roboto"/>
              </a:rPr>
              <a:t>Class Assistant</a:t>
            </a:r>
            <a:r>
              <a:rPr b="0" i="0" lang="id" sz="1200" u="none" cap="none" strike="noStrike">
                <a:solidFill>
                  <a:schemeClr val="dk1"/>
                </a:solidFill>
                <a:latin typeface="Roboto"/>
                <a:ea typeface="Roboto"/>
                <a:cs typeface="Roboto"/>
                <a:sym typeface="Roboto"/>
              </a:rPr>
              <a:t> yang mendampingi serta </a:t>
            </a:r>
            <a:r>
              <a:rPr b="1" i="0" lang="id" sz="1200" u="none" cap="none" strike="noStrike">
                <a:solidFill>
                  <a:srgbClr val="18919B"/>
                </a:solidFill>
                <a:latin typeface="Roboto"/>
                <a:ea typeface="Roboto"/>
                <a:cs typeface="Roboto"/>
                <a:sym typeface="Roboto"/>
              </a:rPr>
              <a:t>Tutor</a:t>
            </a:r>
            <a:r>
              <a:rPr b="0" i="0" lang="id" sz="1200" u="none" cap="none" strike="noStrike">
                <a:solidFill>
                  <a:schemeClr val="dk1"/>
                </a:solidFill>
                <a:latin typeface="Roboto"/>
                <a:ea typeface="Roboto"/>
                <a:cs typeface="Roboto"/>
                <a:sym typeface="Roboto"/>
              </a:rPr>
              <a:t> yang mengajar di sesi kelas. Yang di upload boleh berupa file PPT, maupun screenshot dari file ini.</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3"/>
          <p:cNvGrpSpPr/>
          <p:nvPr/>
        </p:nvGrpSpPr>
        <p:grpSpPr>
          <a:xfrm>
            <a:off x="3854590" y="4740700"/>
            <a:ext cx="1434817" cy="389011"/>
            <a:chOff x="3248325" y="4588800"/>
            <a:chExt cx="2045939" cy="554700"/>
          </a:xfrm>
        </p:grpSpPr>
        <p:sp>
          <p:nvSpPr>
            <p:cNvPr id="99" name="Google Shape;99;p3"/>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3"/>
          <p:cNvGrpSpPr/>
          <p:nvPr/>
        </p:nvGrpSpPr>
        <p:grpSpPr>
          <a:xfrm>
            <a:off x="8325085" y="65157"/>
            <a:ext cx="763768" cy="752531"/>
            <a:chOff x="695950" y="3458000"/>
            <a:chExt cx="966550" cy="952450"/>
          </a:xfrm>
        </p:grpSpPr>
        <p:sp>
          <p:nvSpPr>
            <p:cNvPr id="103" name="Google Shape;103;p3"/>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 name="Google Shape;112;p3"/>
          <p:cNvSpPr/>
          <p:nvPr/>
        </p:nvSpPr>
        <p:spPr>
          <a:xfrm rot="10800000">
            <a:off x="-381375" y="2274300"/>
            <a:ext cx="740700" cy="692700"/>
          </a:xfrm>
          <a:prstGeom prst="pie">
            <a:avLst>
              <a:gd fmla="val 5441529" name="adj1"/>
              <a:gd fmla="val 1620000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14" name="Google Shape;114;p3"/>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15" name="Google Shape;115;p3"/>
          <p:cNvSpPr txBox="1"/>
          <p:nvPr>
            <p:ph idx="4294967295" type="title"/>
          </p:nvPr>
        </p:nvSpPr>
        <p:spPr>
          <a:xfrm>
            <a:off x="212775" y="920950"/>
            <a:ext cx="8520600" cy="24552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800">
                <a:solidFill>
                  <a:srgbClr val="18919B"/>
                </a:solidFill>
                <a:highlight>
                  <a:srgbClr val="FFFFFF"/>
                </a:highlight>
              </a:rPr>
              <a:t>SQL for Data Analysis 1</a:t>
            </a:r>
            <a:endParaRPr b="1" sz="1800">
              <a:solidFill>
                <a:srgbClr val="18919B"/>
              </a:solidFill>
              <a:highlight>
                <a:srgbClr val="FFFFFF"/>
              </a:highlight>
            </a:endParaRPr>
          </a:p>
          <a:p>
            <a:pPr indent="-323850" lvl="0" marL="457200" rtl="0" algn="l">
              <a:lnSpc>
                <a:spcPct val="100000"/>
              </a:lnSpc>
              <a:spcBef>
                <a:spcPts val="0"/>
              </a:spcBef>
              <a:spcAft>
                <a:spcPts val="0"/>
              </a:spcAft>
              <a:buClr>
                <a:srgbClr val="18919B"/>
              </a:buClr>
              <a:buSzPts val="1500"/>
              <a:buFont typeface="Roboto"/>
              <a:buChar char="●"/>
            </a:pPr>
            <a:r>
              <a:rPr lang="id" sz="1500">
                <a:solidFill>
                  <a:srgbClr val="18919B"/>
                </a:solidFill>
                <a:highlight>
                  <a:srgbClr val="FFFFFF"/>
                </a:highlight>
                <a:latin typeface="Roboto"/>
                <a:ea typeface="Roboto"/>
                <a:cs typeface="Roboto"/>
                <a:sym typeface="Roboto"/>
              </a:rPr>
              <a:t>Buktikan bahwa satu nama konsumen hanya memiliki satu customer id!</a:t>
            </a:r>
            <a:endParaRPr sz="1500">
              <a:solidFill>
                <a:srgbClr val="18919B"/>
              </a:solidFill>
              <a:highlight>
                <a:srgbClr val="FFFFFF"/>
              </a:highlight>
              <a:latin typeface="Roboto"/>
              <a:ea typeface="Roboto"/>
              <a:cs typeface="Roboto"/>
              <a:sym typeface="Roboto"/>
            </a:endParaRPr>
          </a:p>
          <a:p>
            <a:pPr indent="-323850" lvl="0" marL="457200" rtl="0" algn="l">
              <a:lnSpc>
                <a:spcPct val="100000"/>
              </a:lnSpc>
              <a:spcBef>
                <a:spcPts val="0"/>
              </a:spcBef>
              <a:spcAft>
                <a:spcPts val="0"/>
              </a:spcAft>
              <a:buClr>
                <a:srgbClr val="18919B"/>
              </a:buClr>
              <a:buSzPts val="1500"/>
              <a:buFont typeface="Roboto"/>
              <a:buChar char="●"/>
            </a:pPr>
            <a:r>
              <a:rPr lang="id" sz="1500">
                <a:solidFill>
                  <a:srgbClr val="18919B"/>
                </a:solidFill>
                <a:highlight>
                  <a:srgbClr val="FFFFFF"/>
                </a:highlight>
                <a:latin typeface="Roboto"/>
                <a:ea typeface="Roboto"/>
                <a:cs typeface="Roboto"/>
                <a:sym typeface="Roboto"/>
              </a:rPr>
              <a:t>Produk (product_name) apa yang paling best selling secara kuantitas</a:t>
            </a:r>
            <a:endParaRPr sz="1500">
              <a:solidFill>
                <a:srgbClr val="18919B"/>
              </a:solidFill>
              <a:highlight>
                <a:srgbClr val="FFFFFF"/>
              </a:highlight>
              <a:latin typeface="Roboto"/>
              <a:ea typeface="Roboto"/>
              <a:cs typeface="Roboto"/>
              <a:sym typeface="Roboto"/>
            </a:endParaRPr>
          </a:p>
          <a:p>
            <a:pPr indent="-323850" lvl="0" marL="457200" rtl="0" algn="l">
              <a:lnSpc>
                <a:spcPct val="100000"/>
              </a:lnSpc>
              <a:spcBef>
                <a:spcPts val="0"/>
              </a:spcBef>
              <a:spcAft>
                <a:spcPts val="0"/>
              </a:spcAft>
              <a:buClr>
                <a:srgbClr val="18919B"/>
              </a:buClr>
              <a:buSzPts val="1500"/>
              <a:buFont typeface="Roboto"/>
              <a:buChar char="●"/>
            </a:pPr>
            <a:r>
              <a:rPr lang="id" sz="1500">
                <a:solidFill>
                  <a:srgbClr val="18919B"/>
                </a:solidFill>
                <a:highlight>
                  <a:srgbClr val="FFFFFF"/>
                </a:highlight>
                <a:latin typeface="Roboto"/>
                <a:ea typeface="Roboto"/>
                <a:cs typeface="Roboto"/>
                <a:sym typeface="Roboto"/>
              </a:rPr>
              <a:t>Produk apa yang paling merugikan selama tahun 2017</a:t>
            </a:r>
            <a:endParaRPr sz="1500">
              <a:solidFill>
                <a:srgbClr val="18919B"/>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f72cd0640d_0_0"/>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Validasi Integritas Data Pelanggan  </a:t>
            </a:r>
            <a:endParaRPr b="1" sz="1820">
              <a:solidFill>
                <a:srgbClr val="18919B"/>
              </a:solidFill>
              <a:latin typeface="Roboto"/>
              <a:ea typeface="Roboto"/>
              <a:cs typeface="Roboto"/>
              <a:sym typeface="Roboto"/>
            </a:endParaRPr>
          </a:p>
        </p:txBody>
      </p:sp>
      <p:sp>
        <p:nvSpPr>
          <p:cNvPr id="121" name="Google Shape;121;g3f72cd0640d_0_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22" name="Google Shape;122;g3f72cd0640d_0_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23" name="Google Shape;123;g3f72cd0640d_0_0"/>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Kasus 1: Pembuktian Satu Nama Konsumen = Satu Customer ID </a:t>
            </a:r>
            <a:endParaRPr b="1">
              <a:solidFill>
                <a:srgbClr val="18919B"/>
              </a:solidFill>
            </a:endParaRPr>
          </a:p>
        </p:txBody>
      </p:sp>
      <p:sp>
        <p:nvSpPr>
          <p:cNvPr id="124" name="Google Shape;124;g3f72cd0640d_0_0"/>
          <p:cNvSpPr txBox="1"/>
          <p:nvPr/>
        </p:nvSpPr>
        <p:spPr>
          <a:xfrm>
            <a:off x="212775" y="886208"/>
            <a:ext cx="89313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Dalam pengelolaan database, integritas data adalah yang utama. Manajemen meminta pembuktian bahwa tidak ada satu nama pelanggan pun yang memiliki lebih dari satu Customer ID. Untuk membuktikannya, digunakan agregasi GROUP BY nama konsumen dan menghitung jumlah ID uniknya (COUNT DISTINCT). Klausa HAVING &gt; 1 ditambahkan sebagai "jebakan". Jika </a:t>
            </a:r>
            <a:r>
              <a:rPr i="1" lang="id" sz="1100">
                <a:solidFill>
                  <a:schemeClr val="dk1"/>
                </a:solidFill>
              </a:rPr>
              <a:t>query</a:t>
            </a:r>
            <a:r>
              <a:rPr lang="id" sz="1100">
                <a:solidFill>
                  <a:schemeClr val="dk1"/>
                </a:solidFill>
              </a:rPr>
              <a:t> ini dieksekusi dan hasilnya kosong (0 rows), maka terbukti 100% sah bahwa rasio nama dan ID adalah 1:1 tanpa ada anomali duplikasi. </a:t>
            </a:r>
            <a:endParaRPr/>
          </a:p>
        </p:txBody>
      </p:sp>
      <p:pic>
        <p:nvPicPr>
          <p:cNvPr id="125" name="Google Shape;125;g3f72cd0640d_0_0"/>
          <p:cNvPicPr preferRelativeResize="0"/>
          <p:nvPr/>
        </p:nvPicPr>
        <p:blipFill>
          <a:blip r:embed="rId4">
            <a:alphaModFix/>
          </a:blip>
          <a:stretch>
            <a:fillRect/>
          </a:stretch>
        </p:blipFill>
        <p:spPr>
          <a:xfrm>
            <a:off x="152400" y="1900508"/>
            <a:ext cx="8839200" cy="162641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f72cd0640d_0_65"/>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Analisis Produk Best Seller (Kuantitas) </a:t>
            </a:r>
            <a:endParaRPr b="1" sz="1820">
              <a:solidFill>
                <a:srgbClr val="18919B"/>
              </a:solidFill>
              <a:latin typeface="Roboto"/>
              <a:ea typeface="Roboto"/>
              <a:cs typeface="Roboto"/>
              <a:sym typeface="Roboto"/>
            </a:endParaRPr>
          </a:p>
        </p:txBody>
      </p:sp>
      <p:sp>
        <p:nvSpPr>
          <p:cNvPr id="131" name="Google Shape;131;g3f72cd0640d_0_65"/>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32" name="Google Shape;132;g3f72cd0640d_0_65"/>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33" name="Google Shape;133;g3f72cd0640d_0_65"/>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Kasus 2: </a:t>
            </a:r>
            <a:r>
              <a:rPr b="1" lang="id">
                <a:solidFill>
                  <a:srgbClr val="18919B"/>
                </a:solidFill>
              </a:rPr>
              <a:t>Identifikasi Produk Best Seller Berdasarkan Kuantitas </a:t>
            </a:r>
            <a:endParaRPr b="1">
              <a:solidFill>
                <a:srgbClr val="18919B"/>
              </a:solidFill>
            </a:endParaRPr>
          </a:p>
        </p:txBody>
      </p:sp>
      <p:sp>
        <p:nvSpPr>
          <p:cNvPr id="134" name="Google Shape;134;g3f72cd0640d_0_65"/>
          <p:cNvSpPr txBox="1"/>
          <p:nvPr/>
        </p:nvSpPr>
        <p:spPr>
          <a:xfrm>
            <a:off x="212775" y="886208"/>
            <a:ext cx="89313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Untuk mengetahui produk apa yang paling laris secara jumlah barang fisik yang keluar, data harus dikelompokkan berdasarkan nama produk (GROUP BY product_name). Kemudian, seluruh jumlah barang yang terjual dari tiap transaksi dijumlahkan menggunakan fungsi SUM(quantity). Terakhir, data diurutkan dari total penjualan tertinggi ke terendah (DESC) dan dibatasi hanya memunculkan urutan pertama menggunakan LIMIT 1. </a:t>
            </a:r>
            <a:endParaRPr/>
          </a:p>
        </p:txBody>
      </p:sp>
      <p:pic>
        <p:nvPicPr>
          <p:cNvPr id="135" name="Google Shape;135;g3f72cd0640d_0_65"/>
          <p:cNvPicPr preferRelativeResize="0"/>
          <p:nvPr/>
        </p:nvPicPr>
        <p:blipFill>
          <a:blip r:embed="rId4">
            <a:alphaModFix/>
          </a:blip>
          <a:stretch>
            <a:fillRect/>
          </a:stretch>
        </p:blipFill>
        <p:spPr>
          <a:xfrm>
            <a:off x="152400" y="1900508"/>
            <a:ext cx="8839200" cy="2117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f72cd0640d_0_80"/>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Evaluasi Produk Paling Merugikan </a:t>
            </a:r>
            <a:endParaRPr b="1" sz="1820">
              <a:solidFill>
                <a:srgbClr val="18919B"/>
              </a:solidFill>
              <a:latin typeface="Roboto"/>
              <a:ea typeface="Roboto"/>
              <a:cs typeface="Roboto"/>
              <a:sym typeface="Roboto"/>
            </a:endParaRPr>
          </a:p>
        </p:txBody>
      </p:sp>
      <p:sp>
        <p:nvSpPr>
          <p:cNvPr id="141" name="Google Shape;141;g3f72cd0640d_0_8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42" name="Google Shape;142;g3f72cd0640d_0_8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43" name="Google Shape;143;g3f72cd0640d_0_80"/>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Kasus 3: </a:t>
            </a:r>
            <a:r>
              <a:rPr b="1" lang="id">
                <a:solidFill>
                  <a:srgbClr val="18919B"/>
                </a:solidFill>
              </a:rPr>
              <a:t>Evaluasi Produk Paling Merugikan Sepanjang Tahun 2017 </a:t>
            </a:r>
            <a:endParaRPr b="1">
              <a:solidFill>
                <a:srgbClr val="18919B"/>
              </a:solidFill>
            </a:endParaRPr>
          </a:p>
        </p:txBody>
      </p:sp>
      <p:sp>
        <p:nvSpPr>
          <p:cNvPr id="144" name="Google Shape;144;g3f72cd0640d_0_80"/>
          <p:cNvSpPr txBox="1"/>
          <p:nvPr/>
        </p:nvSpPr>
        <p:spPr>
          <a:xfrm>
            <a:off x="212775" y="886208"/>
            <a:ext cx="89313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Analisis kerugian (</a:t>
            </a:r>
            <a:r>
              <a:rPr i="1" lang="id" sz="1100">
                <a:solidFill>
                  <a:schemeClr val="dk1"/>
                </a:solidFill>
              </a:rPr>
              <a:t>profitability analysis</a:t>
            </a:r>
            <a:r>
              <a:rPr lang="id" sz="1100">
                <a:solidFill>
                  <a:schemeClr val="dk1"/>
                </a:solidFill>
              </a:rPr>
              <a:t>) sangat vital untuk pengambilan keputusan strategi produk ke depannya. Kasus ini meminta kita mencari satu produk dengan total kerugian terbesar spesifik di tahun 2017. Solusinya menggabungkan teknik ekstraksi waktu (EXTRACT YEAR) di klausa WHERE, dijumlahkan profitnya dengan SUM(profit), lalu diurutkan secara Ascending (ASC) agar angka profit paling kecil (minus terdalam) muncul paling atas sebelum akhirnya dipotong dengan LIMIT 1. </a:t>
            </a:r>
            <a:endParaRPr/>
          </a:p>
        </p:txBody>
      </p:sp>
      <p:pic>
        <p:nvPicPr>
          <p:cNvPr id="145" name="Google Shape;145;g3f72cd0640d_0_80"/>
          <p:cNvPicPr preferRelativeResize="0"/>
          <p:nvPr/>
        </p:nvPicPr>
        <p:blipFill>
          <a:blip r:embed="rId4">
            <a:alphaModFix/>
          </a:blip>
          <a:stretch>
            <a:fillRect/>
          </a:stretch>
        </p:blipFill>
        <p:spPr>
          <a:xfrm>
            <a:off x="152400" y="1900508"/>
            <a:ext cx="8839200" cy="206523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