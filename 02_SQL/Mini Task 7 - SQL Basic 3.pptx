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p:regular r:id="rId11"/>
      <p:bold r:id="rId12"/>
      <p:italic r:id="rId13"/>
      <p:boldItalic r:id="rId14"/>
    </p:embeddedFont>
    <p:embeddedFont>
      <p:font typeface="Caveat"/>
      <p:regular r:id="rId15"/>
      <p:bold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 roundtripDataSignature="AMtx7mhLj4V4yB4ozK8BxzQ7Y9i+rsG8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font" Target="fonts/Roboto-regular.fntdata"/><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font" Target="fonts/Roboto-italic.fntdata"/><Relationship Id="rId12"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aveat-regular.fntdata"/><Relationship Id="rId14" Type="http://schemas.openxmlformats.org/officeDocument/2006/relationships/font" Target="fonts/Roboto-boldItalic.fntdata"/><Relationship Id="rId17" Type="http://schemas.openxmlformats.org/officeDocument/2006/relationships/font" Target="fonts/OpenSans-regular.fntdata"/><Relationship Id="rId16" Type="http://schemas.openxmlformats.org/officeDocument/2006/relationships/font" Target="fonts/Caveat-bold.fntdata"/><Relationship Id="rId5" Type="http://schemas.openxmlformats.org/officeDocument/2006/relationships/notesMaster" Target="notesMasters/notesMaster1.xml"/><Relationship Id="rId19" Type="http://schemas.openxmlformats.org/officeDocument/2006/relationships/font" Target="fonts/OpenSans-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 name="Google Shape;59;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72d9971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f72d9971d9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7"/>
          <p:cNvSpPr txBox="1"/>
          <p:nvPr>
            <p:ph type="title"/>
          </p:nvPr>
        </p:nvSpPr>
        <p:spPr>
          <a:xfrm>
            <a:off x="438150" y="1609089"/>
            <a:ext cx="8267700" cy="1977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1" i="0" sz="6400">
                <a:solidFill>
                  <a:schemeClr val="lt1"/>
                </a:solidFill>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7"/>
          <p:cNvSpPr txBox="1"/>
          <p:nvPr>
            <p:ph idx="1" type="body"/>
          </p:nvPr>
        </p:nvSpPr>
        <p:spPr>
          <a:xfrm>
            <a:off x="388937" y="1603438"/>
            <a:ext cx="8366100" cy="17634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1" i="0" sz="5700">
                <a:solidFill>
                  <a:schemeClr val="lt1"/>
                </a:solidFill>
                <a:latin typeface="Roboto"/>
                <a:ea typeface="Roboto"/>
                <a:cs typeface="Roboto"/>
                <a:sym typeface="Roboto"/>
              </a:defRPr>
            </a:lvl1pPr>
            <a:lvl2pPr indent="-228600" lvl="1" marL="914400" algn="l">
              <a:lnSpc>
                <a:spcPct val="115000"/>
              </a:lnSpc>
              <a:spcBef>
                <a:spcPts val="1200"/>
              </a:spcBef>
              <a:spcAft>
                <a:spcPts val="0"/>
              </a:spcAft>
              <a:buSzPts val="1400"/>
              <a:buNone/>
              <a:defRPr/>
            </a:lvl2pPr>
            <a:lvl3pPr indent="-228600" lvl="2" marL="1371600" algn="l">
              <a:lnSpc>
                <a:spcPct val="115000"/>
              </a:lnSpc>
              <a:spcBef>
                <a:spcPts val="1200"/>
              </a:spcBef>
              <a:spcAft>
                <a:spcPts val="0"/>
              </a:spcAft>
              <a:buSzPts val="1400"/>
              <a:buNone/>
              <a:defRPr/>
            </a:lvl3pPr>
            <a:lvl4pPr indent="-228600" lvl="3" marL="1828800" algn="l">
              <a:lnSpc>
                <a:spcPct val="115000"/>
              </a:lnSpc>
              <a:spcBef>
                <a:spcPts val="1200"/>
              </a:spcBef>
              <a:spcAft>
                <a:spcPts val="0"/>
              </a:spcAft>
              <a:buSzPts val="1400"/>
              <a:buNone/>
              <a:defRPr/>
            </a:lvl4pPr>
            <a:lvl5pPr indent="-228600" lvl="4" marL="2286000" algn="l">
              <a:lnSpc>
                <a:spcPct val="115000"/>
              </a:lnSpc>
              <a:spcBef>
                <a:spcPts val="1200"/>
              </a:spcBef>
              <a:spcAft>
                <a:spcPts val="0"/>
              </a:spcAft>
              <a:buSzPts val="1400"/>
              <a:buNone/>
              <a:defRPr/>
            </a:lvl5pPr>
            <a:lvl6pPr indent="-228600" lvl="5" marL="2743200" algn="l">
              <a:lnSpc>
                <a:spcPct val="115000"/>
              </a:lnSpc>
              <a:spcBef>
                <a:spcPts val="1200"/>
              </a:spcBef>
              <a:spcAft>
                <a:spcPts val="0"/>
              </a:spcAft>
              <a:buSzPts val="1400"/>
              <a:buNone/>
              <a:defRPr/>
            </a:lvl6pPr>
            <a:lvl7pPr indent="-228600" lvl="6" marL="3200400" algn="l">
              <a:lnSpc>
                <a:spcPct val="115000"/>
              </a:lnSpc>
              <a:spcBef>
                <a:spcPts val="1200"/>
              </a:spcBef>
              <a:spcAft>
                <a:spcPts val="0"/>
              </a:spcAft>
              <a:buSzPts val="1400"/>
              <a:buNone/>
              <a:defRPr/>
            </a:lvl7pPr>
            <a:lvl8pPr indent="-228600" lvl="7" marL="3657600" algn="l">
              <a:lnSpc>
                <a:spcPct val="115000"/>
              </a:lnSpc>
              <a:spcBef>
                <a:spcPts val="1200"/>
              </a:spcBef>
              <a:spcAft>
                <a:spcPts val="0"/>
              </a:spcAft>
              <a:buSzPts val="1400"/>
              <a:buNone/>
              <a:defRPr/>
            </a:lvl8pPr>
            <a:lvl9pPr indent="-228600" lvl="8" marL="4114800" algn="l">
              <a:lnSpc>
                <a:spcPct val="115000"/>
              </a:lnSpc>
              <a:spcBef>
                <a:spcPts val="1200"/>
              </a:spcBef>
              <a:spcAft>
                <a:spcPts val="1200"/>
              </a:spcAft>
              <a:buSzPts val="1400"/>
              <a:buNone/>
              <a:defRPr/>
            </a:lvl9pPr>
          </a:lstStyle>
          <a:p/>
        </p:txBody>
      </p:sp>
      <p:sp>
        <p:nvSpPr>
          <p:cNvPr id="14" name="Google Shape;14;p7"/>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7"/>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7"/>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 name="Google Shape;19;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1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1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1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1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1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docs.google.com/spreadsheets/u/0/d/19U8UoWqUd3p9m3qFz-cHFjUzH2-uKm5wMLPZJTfANWQ/ed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B0A6"/>
        </a:solidFill>
      </p:bgPr>
    </p:bg>
    <p:spTree>
      <p:nvGrpSpPr>
        <p:cNvPr id="60" name="Shape 60"/>
        <p:cNvGrpSpPr/>
        <p:nvPr/>
      </p:nvGrpSpPr>
      <p:grpSpPr>
        <a:xfrm>
          <a:off x="0" y="0"/>
          <a:ext cx="0" cy="0"/>
          <a:chOff x="0" y="0"/>
          <a:chExt cx="0" cy="0"/>
        </a:xfrm>
      </p:grpSpPr>
      <p:sp>
        <p:nvSpPr>
          <p:cNvPr id="61" name="Google Shape;61;p1"/>
          <p:cNvSpPr/>
          <p:nvPr/>
        </p:nvSpPr>
        <p:spPr>
          <a:xfrm>
            <a:off x="2464027" y="1138664"/>
            <a:ext cx="4050536" cy="3979652"/>
          </a:xfrm>
          <a:custGeom>
            <a:rect b="b" l="l" r="r" t="t"/>
            <a:pathLst>
              <a:path extrusionOk="0" h="7959303" w="8101072">
                <a:moveTo>
                  <a:pt x="0" y="0"/>
                </a:moveTo>
                <a:lnTo>
                  <a:pt x="8101072" y="0"/>
                </a:lnTo>
                <a:lnTo>
                  <a:pt x="8101072" y="7959303"/>
                </a:lnTo>
                <a:lnTo>
                  <a:pt x="0" y="7959303"/>
                </a:lnTo>
                <a:lnTo>
                  <a:pt x="0" y="0"/>
                </a:lnTo>
                <a:close/>
              </a:path>
            </a:pathLst>
          </a:custGeom>
          <a:blipFill rotWithShape="1">
            <a:blip r:embed="rId3">
              <a:alphaModFix amt="81000"/>
            </a:blip>
            <a:stretch>
              <a:fillRect b="0" l="0" r="0" t="0"/>
            </a:stretch>
          </a:blipFill>
          <a:ln>
            <a:noFill/>
          </a:ln>
        </p:spPr>
      </p:sp>
      <p:sp>
        <p:nvSpPr>
          <p:cNvPr id="62" name="Google Shape;62;p1"/>
          <p:cNvSpPr/>
          <p:nvPr/>
        </p:nvSpPr>
        <p:spPr>
          <a:xfrm>
            <a:off x="-1486429" y="-2463857"/>
            <a:ext cx="6794500" cy="6794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alpha val="6275"/>
            </a:srgbClr>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3851993" y="167243"/>
            <a:ext cx="922357" cy="404684"/>
          </a:xfrm>
          <a:custGeom>
            <a:rect b="b" l="l" r="r" t="t"/>
            <a:pathLst>
              <a:path extrusionOk="0" h="809368" w="1844714">
                <a:moveTo>
                  <a:pt x="0" y="0"/>
                </a:moveTo>
                <a:lnTo>
                  <a:pt x="1844714" y="0"/>
                </a:lnTo>
                <a:lnTo>
                  <a:pt x="1844714" y="809368"/>
                </a:lnTo>
                <a:lnTo>
                  <a:pt x="0" y="809368"/>
                </a:lnTo>
                <a:lnTo>
                  <a:pt x="0" y="0"/>
                </a:lnTo>
                <a:close/>
              </a:path>
            </a:pathLst>
          </a:custGeom>
          <a:blipFill rotWithShape="1">
            <a:blip r:embed="rId4">
              <a:alphaModFix/>
            </a:blip>
            <a:stretch>
              <a:fillRect b="0" l="0" r="0" t="0"/>
            </a:stretch>
          </a:blipFill>
          <a:ln>
            <a:noFill/>
          </a:ln>
        </p:spPr>
      </p:sp>
      <p:cxnSp>
        <p:nvCxnSpPr>
          <p:cNvPr id="64" name="Google Shape;64;p1"/>
          <p:cNvCxnSpPr/>
          <p:nvPr/>
        </p:nvCxnSpPr>
        <p:spPr>
          <a:xfrm>
            <a:off x="4937899" y="230112"/>
            <a:ext cx="0" cy="279000"/>
          </a:xfrm>
          <a:prstGeom prst="straightConnector1">
            <a:avLst/>
          </a:prstGeom>
          <a:noFill/>
          <a:ln cap="flat" cmpd="sng" w="19050">
            <a:solidFill>
              <a:srgbClr val="FFFFFF"/>
            </a:solidFill>
            <a:prstDash val="solid"/>
            <a:round/>
            <a:headEnd len="sm" w="sm" type="none"/>
            <a:tailEnd len="sm" w="sm" type="none"/>
          </a:ln>
        </p:spPr>
      </p:cxnSp>
      <p:sp>
        <p:nvSpPr>
          <p:cNvPr id="65" name="Google Shape;65;p1"/>
          <p:cNvSpPr txBox="1"/>
          <p:nvPr/>
        </p:nvSpPr>
        <p:spPr>
          <a:xfrm>
            <a:off x="5099824" y="205086"/>
            <a:ext cx="2213100" cy="246300"/>
          </a:xfrm>
          <a:prstGeom prst="rect">
            <a:avLst/>
          </a:prstGeom>
          <a:noFill/>
          <a:ln>
            <a:noFill/>
          </a:ln>
        </p:spPr>
        <p:txBody>
          <a:bodyPr anchorCtr="0" anchor="t" bIns="0" lIns="0" spcFirstLastPara="1" rIns="0" wrap="square" tIns="0">
            <a:spAutoFit/>
          </a:bodyPr>
          <a:lstStyle/>
          <a:p>
            <a:pPr indent="0" lvl="0" marL="0" marR="0" rtl="0" algn="l">
              <a:lnSpc>
                <a:spcPct val="133012"/>
              </a:lnSpc>
              <a:spcBef>
                <a:spcPts val="0"/>
              </a:spcBef>
              <a:spcAft>
                <a:spcPts val="0"/>
              </a:spcAft>
              <a:buClr>
                <a:srgbClr val="000000"/>
              </a:buClr>
              <a:buSzPts val="1600"/>
              <a:buFont typeface="Arial"/>
              <a:buNone/>
            </a:pPr>
            <a:r>
              <a:rPr b="0" i="0" lang="id" sz="1600" u="none" cap="none" strike="noStrike">
                <a:solidFill>
                  <a:srgbClr val="FFFFFF"/>
                </a:solidFill>
                <a:latin typeface="Caveat"/>
                <a:ea typeface="Caveat"/>
                <a:cs typeface="Caveat"/>
                <a:sym typeface="Caveat"/>
              </a:rPr>
              <a:t>#RintisKarirImpian</a:t>
            </a:r>
            <a:endParaRPr b="0" i="0" sz="700" u="none" cap="none" strike="noStrike">
              <a:solidFill>
                <a:srgbClr val="000000"/>
              </a:solidFill>
              <a:latin typeface="Arial"/>
              <a:ea typeface="Arial"/>
              <a:cs typeface="Arial"/>
              <a:sym typeface="Arial"/>
            </a:endParaRPr>
          </a:p>
        </p:txBody>
      </p:sp>
      <p:pic>
        <p:nvPicPr>
          <p:cNvPr id="66" name="Google Shape;66;p1"/>
          <p:cNvPicPr preferRelativeResize="0"/>
          <p:nvPr/>
        </p:nvPicPr>
        <p:blipFill rotWithShape="1">
          <a:blip r:embed="rId5">
            <a:alphaModFix/>
          </a:blip>
          <a:srcRect b="0" l="56640" r="0" t="0"/>
          <a:stretch/>
        </p:blipFill>
        <p:spPr>
          <a:xfrm>
            <a:off x="0" y="-169046"/>
            <a:ext cx="3560601" cy="5481591"/>
          </a:xfrm>
          <a:prstGeom prst="rect">
            <a:avLst/>
          </a:prstGeom>
          <a:noFill/>
          <a:ln>
            <a:noFill/>
          </a:ln>
        </p:spPr>
      </p:pic>
      <p:sp>
        <p:nvSpPr>
          <p:cNvPr id="67" name="Google Shape;67;p1"/>
          <p:cNvSpPr/>
          <p:nvPr/>
        </p:nvSpPr>
        <p:spPr>
          <a:xfrm>
            <a:off x="3560603" y="1449959"/>
            <a:ext cx="7654829" cy="2243582"/>
          </a:xfrm>
          <a:custGeom>
            <a:rect b="b" l="l" r="r" t="t"/>
            <a:pathLst>
              <a:path extrusionOk="0" h="4487164" w="15309658">
                <a:moveTo>
                  <a:pt x="0" y="0"/>
                </a:moveTo>
                <a:lnTo>
                  <a:pt x="15309658" y="0"/>
                </a:lnTo>
                <a:lnTo>
                  <a:pt x="15309658" y="4487164"/>
                </a:lnTo>
                <a:lnTo>
                  <a:pt x="0" y="4487164"/>
                </a:lnTo>
                <a:lnTo>
                  <a:pt x="0" y="0"/>
                </a:lnTo>
                <a:close/>
              </a:path>
            </a:pathLst>
          </a:custGeom>
          <a:blipFill rotWithShape="1">
            <a:blip r:embed="rId6">
              <a:alphaModFix amt="70000"/>
            </a:blip>
            <a:stretch>
              <a:fillRect b="0" l="-22117" r="0" t="0"/>
            </a:stretch>
          </a:blipFill>
          <a:ln>
            <a:noFill/>
          </a:ln>
        </p:spPr>
      </p:sp>
      <p:sp>
        <p:nvSpPr>
          <p:cNvPr id="68" name="Google Shape;68;p1"/>
          <p:cNvSpPr txBox="1"/>
          <p:nvPr/>
        </p:nvSpPr>
        <p:spPr>
          <a:xfrm>
            <a:off x="3792125" y="1991150"/>
            <a:ext cx="5115900" cy="10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4800"/>
              <a:buFont typeface="Arial"/>
              <a:buNone/>
            </a:pPr>
            <a:r>
              <a:rPr b="1" i="0" lang="id" sz="4800" u="none" cap="none" strike="noStrike">
                <a:solidFill>
                  <a:schemeClr val="lt1"/>
                </a:solidFill>
                <a:latin typeface="Roboto"/>
                <a:ea typeface="Roboto"/>
                <a:cs typeface="Roboto"/>
                <a:sym typeface="Roboto"/>
              </a:rPr>
              <a:t>SQL Basic 3</a:t>
            </a:r>
            <a:endParaRPr b="1" i="0" sz="5000" u="none" cap="none" strike="noStrike">
              <a:solidFill>
                <a:schemeClr val="lt1"/>
              </a:solidFill>
              <a:latin typeface="Roboto"/>
              <a:ea typeface="Roboto"/>
              <a:cs typeface="Roboto"/>
              <a:sym typeface="Roboto"/>
            </a:endParaRPr>
          </a:p>
        </p:txBody>
      </p:sp>
      <p:sp>
        <p:nvSpPr>
          <p:cNvPr id="69" name="Google Shape;69;p1"/>
          <p:cNvSpPr txBox="1"/>
          <p:nvPr/>
        </p:nvSpPr>
        <p:spPr>
          <a:xfrm>
            <a:off x="3792125" y="799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Portofolio - Intensive Bootcamp</a:t>
            </a:r>
            <a:endParaRPr b="1" i="0" sz="2300" u="none" cap="none" strike="noStrike">
              <a:solidFill>
                <a:srgbClr val="000000"/>
              </a:solidFill>
              <a:latin typeface="Open Sans"/>
              <a:ea typeface="Open Sans"/>
              <a:cs typeface="Open Sans"/>
              <a:sym typeface="Open Sans"/>
            </a:endParaRPr>
          </a:p>
        </p:txBody>
      </p:sp>
      <p:sp>
        <p:nvSpPr>
          <p:cNvPr id="70" name="Google Shape;70;p1"/>
          <p:cNvSpPr txBox="1"/>
          <p:nvPr/>
        </p:nvSpPr>
        <p:spPr>
          <a:xfrm>
            <a:off x="3792125" y="3812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Owner: </a:t>
            </a:r>
            <a:r>
              <a:rPr lang="id" sz="2000">
                <a:solidFill>
                  <a:srgbClr val="FFFFFF"/>
                </a:solidFill>
                <a:latin typeface="Open Sans"/>
                <a:ea typeface="Open Sans"/>
                <a:cs typeface="Open Sans"/>
                <a:sym typeface="Open Sans"/>
              </a:rPr>
              <a:t>Muhammad Ferdy Fawwaz</a:t>
            </a:r>
            <a:endParaRPr b="0" i="0" sz="2300" u="none" cap="none" strike="noStrike">
              <a:solidFill>
                <a:srgbClr val="000000"/>
              </a:solidFill>
              <a:latin typeface="Open Sans"/>
              <a:ea typeface="Open Sans"/>
              <a:cs typeface="Open Sans"/>
              <a:sym typeface="Open Sans"/>
            </a:endParaRPr>
          </a:p>
        </p:txBody>
      </p:sp>
      <p:sp>
        <p:nvSpPr>
          <p:cNvPr id="71" name="Google Shape;71;p1"/>
          <p:cNvSpPr txBox="1"/>
          <p:nvPr/>
        </p:nvSpPr>
        <p:spPr>
          <a:xfrm>
            <a:off x="3792125" y="441275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id" sz="1400" u="none" cap="none" strike="noStrike">
                <a:solidFill>
                  <a:srgbClr val="000000"/>
                </a:solidFill>
                <a:highlight>
                  <a:srgbClr val="FFF2CC"/>
                </a:highlight>
                <a:latin typeface="Arial"/>
                <a:ea typeface="Arial"/>
                <a:cs typeface="Arial"/>
                <a:sym typeface="Arial"/>
              </a:rPr>
              <a:t>Build your skill and portfolio via myskill.id/bootcamp</a:t>
            </a:r>
            <a:endParaRPr b="0" i="0" sz="1400" u="none" cap="none" strike="noStrike">
              <a:solidFill>
                <a:srgbClr val="000000"/>
              </a:solidFill>
              <a:highlight>
                <a:srgbClr val="FFF2CC"/>
              </a:highlight>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grpSp>
        <p:nvGrpSpPr>
          <p:cNvPr id="76" name="Google Shape;76;p2"/>
          <p:cNvGrpSpPr/>
          <p:nvPr/>
        </p:nvGrpSpPr>
        <p:grpSpPr>
          <a:xfrm>
            <a:off x="3854590" y="4740703"/>
            <a:ext cx="1434817" cy="389011"/>
            <a:chOff x="3248325" y="4588800"/>
            <a:chExt cx="2045939" cy="554700"/>
          </a:xfrm>
        </p:grpSpPr>
        <p:sp>
          <p:nvSpPr>
            <p:cNvPr id="77" name="Google Shape;77;p2"/>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2"/>
          <p:cNvGrpSpPr/>
          <p:nvPr/>
        </p:nvGrpSpPr>
        <p:grpSpPr>
          <a:xfrm>
            <a:off x="8325085" y="65154"/>
            <a:ext cx="763768" cy="752531"/>
            <a:chOff x="695950" y="3458000"/>
            <a:chExt cx="966550" cy="952450"/>
          </a:xfrm>
        </p:grpSpPr>
        <p:sp>
          <p:nvSpPr>
            <p:cNvPr id="81" name="Google Shape;81;p2"/>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2"/>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91" name="Google Shape;91;p2"/>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92" name="Google Shape;92;p2"/>
          <p:cNvSpPr txBox="1"/>
          <p:nvPr/>
        </p:nvSpPr>
        <p:spPr>
          <a:xfrm>
            <a:off x="278025" y="454325"/>
            <a:ext cx="84621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600"/>
              <a:buFont typeface="Arial"/>
              <a:buNone/>
            </a:pPr>
            <a:r>
              <a:rPr b="1" i="0" lang="id" sz="2800" u="none" cap="none" strike="noStrike">
                <a:solidFill>
                  <a:srgbClr val="17919B"/>
                </a:solidFill>
                <a:latin typeface="Roboto"/>
                <a:ea typeface="Roboto"/>
                <a:cs typeface="Roboto"/>
                <a:sym typeface="Roboto"/>
              </a:rPr>
              <a:t>Petunjuk Pengerjaan</a:t>
            </a:r>
            <a:endParaRPr b="1" i="0" sz="2800" u="none" cap="none" strike="noStrike">
              <a:solidFill>
                <a:srgbClr val="FFFFFF"/>
              </a:solidFill>
              <a:latin typeface="Roboto"/>
              <a:ea typeface="Roboto"/>
              <a:cs typeface="Roboto"/>
              <a:sym typeface="Roboto"/>
            </a:endParaRPr>
          </a:p>
        </p:txBody>
      </p:sp>
      <p:sp>
        <p:nvSpPr>
          <p:cNvPr id="93" name="Google Shape;93;p2"/>
          <p:cNvSpPr txBox="1"/>
          <p:nvPr/>
        </p:nvSpPr>
        <p:spPr>
          <a:xfrm>
            <a:off x="212775" y="1001700"/>
            <a:ext cx="8462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id" sz="1200" u="none" cap="none" strike="noStrike">
                <a:solidFill>
                  <a:srgbClr val="000000"/>
                </a:solidFill>
                <a:latin typeface="Roboto"/>
                <a:ea typeface="Roboto"/>
                <a:cs typeface="Roboto"/>
                <a:sym typeface="Roboto"/>
              </a:rPr>
              <a:t>Dokumen ini memang tidak open access untuk edit, maka silahkan copy file ini lalu kerjakanlah pada device masing-masing, dengan cara klik </a:t>
            </a:r>
            <a:r>
              <a:rPr b="1" i="0" lang="id" sz="1200" u="none" cap="none" strike="noStrike">
                <a:solidFill>
                  <a:srgbClr val="18919B"/>
                </a:solidFill>
                <a:latin typeface="Roboto"/>
                <a:ea typeface="Roboto"/>
                <a:cs typeface="Roboto"/>
                <a:sym typeface="Roboto"/>
              </a:rPr>
              <a:t>File</a:t>
            </a:r>
            <a:r>
              <a:rPr b="0" i="0" lang="id" sz="1200" u="none" cap="none" strike="noStrike">
                <a:solidFill>
                  <a:srgbClr val="000000"/>
                </a:solidFill>
                <a:latin typeface="Roboto"/>
                <a:ea typeface="Roboto"/>
                <a:cs typeface="Roboto"/>
                <a:sym typeface="Roboto"/>
              </a:rPr>
              <a:t> pada pojok kiri atas, pilih </a:t>
            </a:r>
            <a:r>
              <a:rPr b="1" i="0" lang="id" sz="1200" u="none" cap="none" strike="noStrike">
                <a:solidFill>
                  <a:srgbClr val="18919B"/>
                </a:solidFill>
                <a:latin typeface="Roboto"/>
                <a:ea typeface="Roboto"/>
                <a:cs typeface="Roboto"/>
                <a:sym typeface="Roboto"/>
              </a:rPr>
              <a:t>Make a Copy</a:t>
            </a:r>
            <a:r>
              <a:rPr b="0" i="0" lang="id" sz="1200" u="none" cap="none" strike="noStrike">
                <a:solidFill>
                  <a:srgbClr val="000000"/>
                </a:solidFill>
                <a:latin typeface="Roboto"/>
                <a:ea typeface="Roboto"/>
                <a:cs typeface="Roboto"/>
                <a:sym typeface="Roboto"/>
              </a:rPr>
              <a:t>. Setelah file berhasil di copy, ubah nama sesuai nama masing-masing.</a:t>
            </a:r>
            <a:br>
              <a:rPr b="0" i="0" lang="id" sz="1200" u="none" cap="none" strike="noStrike">
                <a:solidFill>
                  <a:srgbClr val="000000"/>
                </a:solidFill>
                <a:latin typeface="Roboto"/>
                <a:ea typeface="Roboto"/>
                <a:cs typeface="Roboto"/>
                <a:sym typeface="Roboto"/>
              </a:rPr>
            </a:br>
            <a:br>
              <a:rPr b="0" i="0" lang="id" sz="1200" u="none" cap="none" strike="noStrike">
                <a:solidFill>
                  <a:srgbClr val="000000"/>
                </a:solidFill>
                <a:latin typeface="Roboto"/>
                <a:ea typeface="Roboto"/>
                <a:cs typeface="Roboto"/>
                <a:sym typeface="Roboto"/>
              </a:rPr>
            </a:br>
            <a:r>
              <a:rPr b="1" i="0" lang="id" sz="1200" u="none" cap="none" strike="noStrike">
                <a:solidFill>
                  <a:srgbClr val="18919B"/>
                </a:solidFill>
                <a:latin typeface="Roboto"/>
                <a:ea typeface="Roboto"/>
                <a:cs typeface="Roboto"/>
                <a:sym typeface="Roboto"/>
              </a:rPr>
              <a:t>Untuk mengerjakan, perhatikan petunjuk dibawah ini:</a:t>
            </a:r>
            <a:endParaRPr b="1" i="0" sz="1200" u="none" cap="none" strike="noStrike">
              <a:solidFill>
                <a:srgbClr val="18919B"/>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Jawablah masing-masing pertanyaan di slide selanjutnya berdasarkan pengetahuanmu dan berdasarkan apa yang kamu pahami pada materi tiap sesi. </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Set pengaturan akses file sebagai </a:t>
            </a:r>
            <a:r>
              <a:rPr b="1" i="0" lang="id" sz="1200" u="none" cap="none" strike="noStrike">
                <a:solidFill>
                  <a:srgbClr val="18919B"/>
                </a:solidFill>
                <a:latin typeface="Roboto"/>
                <a:ea typeface="Roboto"/>
                <a:cs typeface="Roboto"/>
                <a:sym typeface="Roboto"/>
              </a:rPr>
              <a:t>Publik</a:t>
            </a:r>
            <a:r>
              <a:rPr b="0" i="0" lang="id" sz="1200" u="none" cap="none" strike="noStrike">
                <a:solidFill>
                  <a:schemeClr val="dk1"/>
                </a:solidFill>
                <a:latin typeface="Roboto"/>
                <a:ea typeface="Roboto"/>
                <a:cs typeface="Roboto"/>
                <a:sym typeface="Roboto"/>
              </a:rPr>
              <a:t> namun cukup </a:t>
            </a:r>
            <a:r>
              <a:rPr b="1" i="0" lang="id" sz="1200" u="none" cap="none" strike="noStrike">
                <a:solidFill>
                  <a:srgbClr val="18919B"/>
                </a:solidFill>
                <a:latin typeface="Roboto"/>
                <a:ea typeface="Roboto"/>
                <a:cs typeface="Roboto"/>
                <a:sym typeface="Roboto"/>
              </a:rPr>
              <a:t>View Only </a:t>
            </a:r>
            <a:r>
              <a:rPr b="0" i="0" lang="id" sz="1200" u="none" cap="none" strike="noStrike">
                <a:solidFill>
                  <a:schemeClr val="dk1"/>
                </a:solidFill>
                <a:latin typeface="Roboto"/>
                <a:ea typeface="Roboto"/>
                <a:cs typeface="Roboto"/>
                <a:sym typeface="Roboto"/>
              </a:rPr>
              <a:t>agar tugas dapat dicek oleh Class Assistant.</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Silahkan kirim link sheet mini task berikut di form pengumpulan mini task yang sudah tersedia di</a:t>
            </a:r>
            <a:r>
              <a:rPr b="1" i="0" lang="id" sz="1200" u="none" cap="none" strike="noStrike">
                <a:solidFill>
                  <a:schemeClr val="dk1"/>
                </a:solidFill>
                <a:latin typeface="Roboto"/>
                <a:ea typeface="Roboto"/>
                <a:cs typeface="Roboto"/>
                <a:sym typeface="Roboto"/>
              </a:rPr>
              <a:t> </a:t>
            </a:r>
            <a:r>
              <a:rPr b="1" i="0" lang="id" sz="1200" u="sng" cap="none" strike="noStrike">
                <a:solidFill>
                  <a:schemeClr val="hlink"/>
                </a:solidFill>
                <a:latin typeface="Roboto"/>
                <a:ea typeface="Roboto"/>
                <a:cs typeface="Roboto"/>
                <a:sym typeface="Roboto"/>
                <a:hlinkClick r:id="rId4"/>
              </a:rPr>
              <a:t>To Do List bootcamp Data Analysis batch 21.</a:t>
            </a:r>
            <a:endParaRPr b="1"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Upload pekerjaanmu di LinkedIn dan tag </a:t>
            </a:r>
            <a:r>
              <a:rPr b="1" i="0" lang="id" sz="1200" u="none" cap="none" strike="noStrike">
                <a:solidFill>
                  <a:srgbClr val="18919B"/>
                </a:solidFill>
                <a:latin typeface="Roboto"/>
                <a:ea typeface="Roboto"/>
                <a:cs typeface="Roboto"/>
                <a:sym typeface="Roboto"/>
              </a:rPr>
              <a:t>@MySkill</a:t>
            </a:r>
            <a:r>
              <a:rPr b="0" i="0" lang="id" sz="1200" u="none" cap="none" strike="noStrike">
                <a:solidFill>
                  <a:schemeClr val="dk1"/>
                </a:solidFill>
                <a:latin typeface="Roboto"/>
                <a:ea typeface="Roboto"/>
                <a:cs typeface="Roboto"/>
                <a:sym typeface="Roboto"/>
              </a:rPr>
              <a:t> juga </a:t>
            </a:r>
            <a:r>
              <a:rPr b="1" i="0" lang="id" sz="1200" u="none" cap="none" strike="noStrike">
                <a:solidFill>
                  <a:srgbClr val="18919B"/>
                </a:solidFill>
                <a:latin typeface="Roboto"/>
                <a:ea typeface="Roboto"/>
                <a:cs typeface="Roboto"/>
                <a:sym typeface="Roboto"/>
              </a:rPr>
              <a:t>Class Assistant</a:t>
            </a:r>
            <a:r>
              <a:rPr b="0" i="0" lang="id" sz="1200" u="none" cap="none" strike="noStrike">
                <a:solidFill>
                  <a:schemeClr val="dk1"/>
                </a:solidFill>
                <a:latin typeface="Roboto"/>
                <a:ea typeface="Roboto"/>
                <a:cs typeface="Roboto"/>
                <a:sym typeface="Roboto"/>
              </a:rPr>
              <a:t> yang mendampingi serta </a:t>
            </a:r>
            <a:r>
              <a:rPr b="1" i="0" lang="id" sz="1200" u="none" cap="none" strike="noStrike">
                <a:solidFill>
                  <a:srgbClr val="18919B"/>
                </a:solidFill>
                <a:latin typeface="Roboto"/>
                <a:ea typeface="Roboto"/>
                <a:cs typeface="Roboto"/>
                <a:sym typeface="Roboto"/>
              </a:rPr>
              <a:t>Tutor</a:t>
            </a:r>
            <a:r>
              <a:rPr b="0" i="0" lang="id" sz="1200" u="none" cap="none" strike="noStrike">
                <a:solidFill>
                  <a:schemeClr val="dk1"/>
                </a:solidFill>
                <a:latin typeface="Roboto"/>
                <a:ea typeface="Roboto"/>
                <a:cs typeface="Roboto"/>
                <a:sym typeface="Roboto"/>
              </a:rPr>
              <a:t> yang mengajar di sesi kelas. Yang di upload boleh berupa file PPT, maupun screenshot dari file ini.</a:t>
            </a:r>
            <a:endParaRPr b="1"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3"/>
          <p:cNvGrpSpPr/>
          <p:nvPr/>
        </p:nvGrpSpPr>
        <p:grpSpPr>
          <a:xfrm>
            <a:off x="3854590" y="4740700"/>
            <a:ext cx="1434817" cy="389011"/>
            <a:chOff x="3248325" y="4588800"/>
            <a:chExt cx="2045939" cy="554700"/>
          </a:xfrm>
        </p:grpSpPr>
        <p:sp>
          <p:nvSpPr>
            <p:cNvPr id="99" name="Google Shape;99;p3"/>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 name="Google Shape;102;p3"/>
          <p:cNvGrpSpPr/>
          <p:nvPr/>
        </p:nvGrpSpPr>
        <p:grpSpPr>
          <a:xfrm>
            <a:off x="8325085" y="65157"/>
            <a:ext cx="763768" cy="752531"/>
            <a:chOff x="695950" y="3458000"/>
            <a:chExt cx="966550" cy="952450"/>
          </a:xfrm>
        </p:grpSpPr>
        <p:sp>
          <p:nvSpPr>
            <p:cNvPr id="103" name="Google Shape;103;p3"/>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 name="Google Shape;112;p3"/>
          <p:cNvSpPr/>
          <p:nvPr/>
        </p:nvSpPr>
        <p:spPr>
          <a:xfrm rot="10800000">
            <a:off x="-381375" y="2274300"/>
            <a:ext cx="740700" cy="692700"/>
          </a:xfrm>
          <a:prstGeom prst="pie">
            <a:avLst>
              <a:gd fmla="val 5441529" name="adj1"/>
              <a:gd fmla="val 1620000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14" name="Google Shape;114;p3"/>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15" name="Google Shape;115;p3"/>
          <p:cNvSpPr txBox="1"/>
          <p:nvPr>
            <p:ph type="ctrTitle"/>
          </p:nvPr>
        </p:nvSpPr>
        <p:spPr>
          <a:xfrm>
            <a:off x="311700" y="445025"/>
            <a:ext cx="8520600" cy="5727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820">
                <a:solidFill>
                  <a:srgbClr val="8E7CC3"/>
                </a:solidFill>
                <a:latin typeface="Roboto"/>
                <a:ea typeface="Roboto"/>
                <a:cs typeface="Roboto"/>
                <a:sym typeface="Roboto"/>
              </a:rPr>
              <a:t>SQL Basic 3</a:t>
            </a:r>
            <a:endParaRPr b="1" sz="1820">
              <a:solidFill>
                <a:srgbClr val="8E7CC3"/>
              </a:solidFill>
              <a:latin typeface="Roboto"/>
              <a:ea typeface="Roboto"/>
              <a:cs typeface="Roboto"/>
              <a:sym typeface="Roboto"/>
            </a:endParaRPr>
          </a:p>
        </p:txBody>
      </p:sp>
      <p:sp>
        <p:nvSpPr>
          <p:cNvPr id="116" name="Google Shape;116;p3"/>
          <p:cNvSpPr txBox="1"/>
          <p:nvPr>
            <p:ph idx="1" type="subTitle"/>
          </p:nvPr>
        </p:nvSpPr>
        <p:spPr>
          <a:xfrm>
            <a:off x="359325" y="1928250"/>
            <a:ext cx="8139300" cy="1384800"/>
          </a:xfrm>
          <a:prstGeom prst="rect">
            <a:avLst/>
          </a:prstGeom>
          <a:solidFill>
            <a:schemeClr val="lt1"/>
          </a:solidFill>
          <a:ln cap="flat" cmpd="sng" w="9525">
            <a:solidFill>
              <a:srgbClr val="000000"/>
            </a:solidFill>
            <a:prstDash val="dash"/>
            <a:round/>
            <a:headEnd len="sm" w="sm" type="none"/>
            <a:tailEnd len="sm" w="sm" type="none"/>
          </a:ln>
        </p:spPr>
        <p:txBody>
          <a:bodyPr anchorCtr="0" anchor="t" bIns="91425" lIns="91425" spcFirstLastPara="1" rIns="91425" wrap="square" tIns="91425">
            <a:normAutofit/>
          </a:bodyPr>
          <a:lstStyle/>
          <a:p>
            <a:pPr indent="-336550" lvl="0" marL="457200" rtl="0" algn="l">
              <a:lnSpc>
                <a:spcPct val="90000"/>
              </a:lnSpc>
              <a:spcBef>
                <a:spcPts val="0"/>
              </a:spcBef>
              <a:spcAft>
                <a:spcPts val="0"/>
              </a:spcAft>
              <a:buClr>
                <a:srgbClr val="434343"/>
              </a:buClr>
              <a:buSzPts val="1700"/>
              <a:buFont typeface="Roboto"/>
              <a:buAutoNum type="arabicPeriod"/>
            </a:pPr>
            <a:r>
              <a:rPr lang="id" sz="1700">
                <a:solidFill>
                  <a:srgbClr val="434343"/>
                </a:solidFill>
                <a:latin typeface="Roboto"/>
                <a:ea typeface="Roboto"/>
                <a:cs typeface="Roboto"/>
                <a:sym typeface="Roboto"/>
              </a:rPr>
              <a:t>Query transaksi yang merugikan saja yang terjadi di tahun 2018 hingga 2019 di kota Los Angeles. diurutkan dari kerugian terbesar</a:t>
            </a:r>
            <a:endParaRPr sz="1700">
              <a:solidFill>
                <a:srgbClr val="434343"/>
              </a:solidFill>
              <a:latin typeface="Roboto"/>
              <a:ea typeface="Roboto"/>
              <a:cs typeface="Roboto"/>
              <a:sym typeface="Roboto"/>
            </a:endParaRPr>
          </a:p>
          <a:p>
            <a:pPr indent="0" lvl="0" marL="457200" rtl="0" algn="l">
              <a:lnSpc>
                <a:spcPct val="90000"/>
              </a:lnSpc>
              <a:spcBef>
                <a:spcPts val="0"/>
              </a:spcBef>
              <a:spcAft>
                <a:spcPts val="0"/>
              </a:spcAft>
              <a:buSzPts val="2800"/>
              <a:buNone/>
            </a:pPr>
            <a:r>
              <a:t/>
            </a:r>
            <a:endParaRPr sz="1700">
              <a:solidFill>
                <a:srgbClr val="434343"/>
              </a:solidFill>
              <a:latin typeface="Roboto"/>
              <a:ea typeface="Roboto"/>
              <a:cs typeface="Roboto"/>
              <a:sym typeface="Roboto"/>
            </a:endParaRPr>
          </a:p>
          <a:p>
            <a:pPr indent="-336550" lvl="0" marL="457200" rtl="0" algn="l">
              <a:lnSpc>
                <a:spcPct val="90000"/>
              </a:lnSpc>
              <a:spcBef>
                <a:spcPts val="0"/>
              </a:spcBef>
              <a:spcAft>
                <a:spcPts val="0"/>
              </a:spcAft>
              <a:buClr>
                <a:srgbClr val="434343"/>
              </a:buClr>
              <a:buSzPts val="1700"/>
              <a:buFont typeface="Roboto"/>
              <a:buAutoNum type="arabicPeriod"/>
            </a:pPr>
            <a:r>
              <a:rPr lang="id" sz="1700">
                <a:solidFill>
                  <a:srgbClr val="434343"/>
                </a:solidFill>
                <a:latin typeface="Roboto"/>
                <a:ea typeface="Roboto"/>
                <a:cs typeface="Roboto"/>
                <a:sym typeface="Roboto"/>
              </a:rPr>
              <a:t>Query transaksi yang untung saja yang terjadi pada Q1 2018 di kota Henderson. diurutkan dari keuntungan terbesar</a:t>
            </a:r>
            <a:endParaRPr sz="1700">
              <a:solidFill>
                <a:srgbClr val="434343"/>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8E7CC3"/>
                </a:solidFill>
              </a:rPr>
              <a:t>Studi Kasus 1 - Analisis Transaksi Merugikan (Kerugian Terbesar) </a:t>
            </a:r>
            <a:endParaRPr b="1" sz="1820">
              <a:solidFill>
                <a:srgbClr val="8E7CC3"/>
              </a:solidFill>
              <a:latin typeface="Roboto"/>
              <a:ea typeface="Roboto"/>
              <a:cs typeface="Roboto"/>
              <a:sym typeface="Roboto"/>
            </a:endParaRPr>
          </a:p>
        </p:txBody>
      </p:sp>
      <p:sp>
        <p:nvSpPr>
          <p:cNvPr id="122" name="Google Shape;122;p4"/>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23" name="Google Shape;123;p4"/>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24" name="Google Shape;124;p4"/>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8E7CC3"/>
                </a:solidFill>
              </a:rPr>
              <a:t>Identifikasi Transaksi Merugikan di Los Angeles (2018-2019) </a:t>
            </a:r>
            <a:endParaRPr b="1">
              <a:solidFill>
                <a:srgbClr val="8E7CC3"/>
              </a:solidFill>
            </a:endParaRPr>
          </a:p>
        </p:txBody>
      </p:sp>
      <p:sp>
        <p:nvSpPr>
          <p:cNvPr id="125" name="Google Shape;125;p4"/>
          <p:cNvSpPr txBox="1"/>
          <p:nvPr/>
        </p:nvSpPr>
        <p:spPr>
          <a:xfrm>
            <a:off x="212775" y="886208"/>
            <a:ext cx="89313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a:latin typeface="Roboto"/>
                <a:ea typeface="Roboto"/>
                <a:cs typeface="Roboto"/>
                <a:sym typeface="Roboto"/>
              </a:rPr>
              <a:t>Pada kasus ini, ingin mengetahui daftar transaksi yang menghasilkan kerugian di Los Angeles selama periode 2018-2019, dan memprioritaskan kerugian terbesar untuk dianalisis lebih lanjut. Untuk memecahkan kasus ini, digunakan kombinasi klausa WHERE untuk menyaring profit bernilai minus, fungsi EXTRACT untuk mengambil rentang tahun, dan fungsi ORDER BY ... ASC untuk mengurutkan angka minus dari yang paling ekstrem (terkecil/kerugian paling besar) berada di posisi teratas. </a:t>
            </a:r>
            <a:endParaRPr/>
          </a:p>
        </p:txBody>
      </p:sp>
      <p:pic>
        <p:nvPicPr>
          <p:cNvPr id="126" name="Google Shape;126;p4"/>
          <p:cNvPicPr preferRelativeResize="0"/>
          <p:nvPr/>
        </p:nvPicPr>
        <p:blipFill>
          <a:blip r:embed="rId4">
            <a:alphaModFix/>
          </a:blip>
          <a:stretch>
            <a:fillRect/>
          </a:stretch>
        </p:blipFill>
        <p:spPr>
          <a:xfrm>
            <a:off x="1312775" y="2148300"/>
            <a:ext cx="6731298" cy="2855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f72d9971d9_0_10"/>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8E7CC3"/>
                </a:solidFill>
              </a:rPr>
              <a:t>Studi Kasus 2 - </a:t>
            </a:r>
            <a:r>
              <a:rPr b="1" lang="id" sz="1700">
                <a:solidFill>
                  <a:srgbClr val="8E7CC3"/>
                </a:solidFill>
              </a:rPr>
              <a:t>Analisis Kinerja Menguntungkan (Kuartal 1) </a:t>
            </a:r>
            <a:endParaRPr b="1" sz="1820">
              <a:solidFill>
                <a:srgbClr val="8E7CC3"/>
              </a:solidFill>
              <a:latin typeface="Roboto"/>
              <a:ea typeface="Roboto"/>
              <a:cs typeface="Roboto"/>
              <a:sym typeface="Roboto"/>
            </a:endParaRPr>
          </a:p>
        </p:txBody>
      </p:sp>
      <p:sp>
        <p:nvSpPr>
          <p:cNvPr id="132" name="Google Shape;132;g3f72d9971d9_0_10"/>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33" name="Google Shape;133;g3f72d9971d9_0_10"/>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34" name="Google Shape;134;g3f72d9971d9_0_10"/>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8E7CC3"/>
                </a:solidFill>
              </a:rPr>
              <a:t>Puncak Keuntungan Q1 2018 di Kota Henderson </a:t>
            </a:r>
            <a:endParaRPr b="1">
              <a:solidFill>
                <a:srgbClr val="8E7CC3"/>
              </a:solidFill>
            </a:endParaRPr>
          </a:p>
        </p:txBody>
      </p:sp>
      <p:sp>
        <p:nvSpPr>
          <p:cNvPr id="135" name="Google Shape;135;g3f72d9971d9_0_10"/>
          <p:cNvSpPr txBox="1"/>
          <p:nvPr/>
        </p:nvSpPr>
        <p:spPr>
          <a:xfrm>
            <a:off x="212775" y="886208"/>
            <a:ext cx="89313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a:latin typeface="Roboto"/>
                <a:ea typeface="Roboto"/>
                <a:cs typeface="Roboto"/>
                <a:sym typeface="Roboto"/>
              </a:rPr>
              <a:t>Kasus selanjutnya adalah menemukan transaksi yang paling menguntungkan (profit positif) khusus pada Kuartal Pertama (Q1) tahun 2018 di kota Henderson. Analisis ini menuntut penggunaan fungsi EXTRACT(QUARTER) yang merupakan sintaks tingkat menengah-lanjut di PostgreSQL, guna menarik data secara spesifik pada bulan Januari hingga Maret tanpa harus menuliskan tanggal awal dan akhirnya secara manual. Data kemudian diurutkan dari profit tertinggi.</a:t>
            </a:r>
            <a:endParaRPr/>
          </a:p>
        </p:txBody>
      </p:sp>
      <p:pic>
        <p:nvPicPr>
          <p:cNvPr id="136" name="Google Shape;136;g3f72d9971d9_0_10"/>
          <p:cNvPicPr preferRelativeResize="0"/>
          <p:nvPr/>
        </p:nvPicPr>
        <p:blipFill>
          <a:blip r:embed="rId4">
            <a:alphaModFix/>
          </a:blip>
          <a:stretch>
            <a:fillRect/>
          </a:stretch>
        </p:blipFill>
        <p:spPr>
          <a:xfrm>
            <a:off x="409575" y="2148300"/>
            <a:ext cx="8324842" cy="2501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